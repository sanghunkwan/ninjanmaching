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64" r:id="rId5"/>
    <p:sldId id="259" r:id="rId6"/>
    <p:sldId id="260" r:id="rId7"/>
    <p:sldId id="262" r:id="rId8"/>
    <p:sldId id="261" r:id="rId9"/>
    <p:sldId id="265" r:id="rId10"/>
    <p:sldId id="266" r:id="rId11"/>
    <p:sldId id="263" r:id="rId12"/>
    <p:sldId id="268" r:id="rId13"/>
    <p:sldId id="269" r:id="rId14"/>
    <p:sldId id="267" r:id="rId15"/>
    <p:sldId id="270" r:id="rId16"/>
    <p:sldId id="272" r:id="rId17"/>
    <p:sldId id="283" r:id="rId18"/>
    <p:sldId id="274" r:id="rId19"/>
    <p:sldId id="282" r:id="rId20"/>
    <p:sldId id="275" r:id="rId21"/>
    <p:sldId id="281" r:id="rId22"/>
    <p:sldId id="273" r:id="rId23"/>
    <p:sldId id="284" r:id="rId24"/>
    <p:sldId id="279" r:id="rId25"/>
    <p:sldId id="271" r:id="rId26"/>
    <p:sldId id="280" r:id="rId27"/>
    <p:sldId id="285" r:id="rId28"/>
    <p:sldId id="290" r:id="rId29"/>
    <p:sldId id="288" r:id="rId30"/>
    <p:sldId id="286" r:id="rId31"/>
    <p:sldId id="289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F44CFE9-A6A9-4D24-B84F-75F44CF4424B}">
          <p14:sldIdLst>
            <p14:sldId id="256"/>
          </p14:sldIdLst>
        </p14:section>
        <p14:section name="depth0" id="{2EAE85BB-1680-4FCF-A7AC-72F275A18B33}">
          <p14:sldIdLst>
            <p14:sldId id="257"/>
          </p14:sldIdLst>
        </p14:section>
        <p14:section name="depth1" id="{E8E6F9CA-B8DF-4655-9157-271B89BDEC3E}">
          <p14:sldIdLst>
            <p14:sldId id="258"/>
            <p14:sldId id="264"/>
            <p14:sldId id="259"/>
          </p14:sldIdLst>
        </p14:section>
        <p14:section name="depth2" id="{7D63EAC0-CFC5-473B-8B3D-34CFA8D462B3}">
          <p14:sldIdLst>
            <p14:sldId id="260"/>
            <p14:sldId id="262"/>
          </p14:sldIdLst>
        </p14:section>
        <p14:section name="depth3" id="{BF96FBFC-A30B-44E1-8FE7-7935745E3DF0}">
          <p14:sldIdLst>
            <p14:sldId id="261"/>
          </p14:sldIdLst>
        </p14:section>
        <p14:section name="depth4" id="{CE774485-2BFB-427A-991B-D509B297CDFB}">
          <p14:sldIdLst>
            <p14:sldId id="265"/>
            <p14:sldId id="266"/>
          </p14:sldIdLst>
        </p14:section>
        <p14:section name="depth5" id="{6E1A9DF7-08A7-4B44-ACB8-368C75EC5463}">
          <p14:sldIdLst>
            <p14:sldId id="263"/>
            <p14:sldId id="268"/>
            <p14:sldId id="269"/>
          </p14:sldIdLst>
        </p14:section>
        <p14:section name="depth6" id="{E51101B3-A15D-457B-B54F-16B68EA80450}">
          <p14:sldIdLst>
            <p14:sldId id="267"/>
          </p14:sldIdLst>
        </p14:section>
        <p14:section name="depth7" id="{741FE371-8D21-4E51-A9F1-81B4E86F6943}">
          <p14:sldIdLst>
            <p14:sldId id="270"/>
          </p14:sldIdLst>
        </p14:section>
        <p14:section name="depth8" id="{3B92FFCD-9DF2-4855-93D2-CC2F1E0F52C0}">
          <p14:sldIdLst>
            <p14:sldId id="272"/>
            <p14:sldId id="283"/>
          </p14:sldIdLst>
        </p14:section>
        <p14:section name="depth9" id="{34AB1992-6EEE-4A66-B143-09A6D65DD67D}">
          <p14:sldIdLst>
            <p14:sldId id="274"/>
            <p14:sldId id="282"/>
          </p14:sldIdLst>
        </p14:section>
        <p14:section name="depth10" id="{EBAAE4B4-93A8-4B13-B2F2-7DA565AFBB79}">
          <p14:sldIdLst>
            <p14:sldId id="275"/>
            <p14:sldId id="281"/>
          </p14:sldIdLst>
        </p14:section>
        <p14:section name="depth11" id="{F9B876F8-F3BA-4C89-891F-02D946B1AEAF}">
          <p14:sldIdLst>
            <p14:sldId id="273"/>
            <p14:sldId id="284"/>
            <p14:sldId id="279"/>
          </p14:sldIdLst>
        </p14:section>
        <p14:section name="depth12" id="{90F2AD0A-C25F-442F-AE7D-A3F8224F7DAE}">
          <p14:sldIdLst>
            <p14:sldId id="271"/>
            <p14:sldId id="280"/>
          </p14:sldIdLst>
        </p14:section>
        <p14:section name="depth13" id="{D132EAF5-BFC9-4CC0-8E62-C264ADA3A8F5}">
          <p14:sldIdLst>
            <p14:sldId id="285"/>
          </p14:sldIdLst>
        </p14:section>
        <p14:section name="depth14" id="{146D2402-416A-4C66-911A-CB1ABC25CFF6}">
          <p14:sldIdLst>
            <p14:sldId id="290"/>
          </p14:sldIdLst>
        </p14:section>
        <p14:section name="depth15" id="{A3A41B8B-E1F1-4559-8B4E-23CD81F9B350}">
          <p14:sldIdLst>
            <p14:sldId id="288"/>
            <p14:sldId id="286"/>
            <p14:sldId id="289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" initials="G" lastIdx="6" clrIdx="0">
    <p:extLst>
      <p:ext uri="{19B8F6BF-5375-455C-9EA6-DF929625EA0E}">
        <p15:presenceInfo xmlns:p15="http://schemas.microsoft.com/office/powerpoint/2012/main" userId="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D68B"/>
    <a:srgbClr val="FFFF8F"/>
    <a:srgbClr val="FFFF61"/>
    <a:srgbClr val="FFFFC9"/>
    <a:srgbClr val="498830"/>
    <a:srgbClr val="E0F0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E23F07-293F-33C6-4D07-4DA4F4128818}" v="87" dt="2025-08-02T03:49:54.595"/>
    <p1510:client id="{21CABDCB-10CC-26AA-A70F-E9A27215087B}" v="159" dt="2025-08-02T03:48:01.079"/>
    <p1510:client id="{7159A9D6-AA46-CB23-8945-A9D0564D35F2}" v="816" dt="2025-08-02T21:31:05.331"/>
    <p1510:client id="{8FC33054-5E6B-7CA9-F8B9-99DED3C6B090}" v="2506" dt="2025-08-02T21:14:20.431"/>
    <p1510:client id="{FA00AD75-DBA3-10AD-5936-FAAE5292D876}" v="3883" dt="2025-08-02T11:26:29.750"/>
    <p1510:client id="{FA763B7D-E7C1-0250-36D9-043C5289961F}" v="149" dt="2025-08-02T21:37:58.1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929F9F4-4A8F-4326-A1B4-22849713DDAB}" styleName="어두운 스타일 1 - 강조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어두운 스타일 1 - 강조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F997A9-C414-41EF-B866-1D7DDD41CB92}" type="datetimeFigureOut">
              <a:rPr lang="ko-KR" altLang="en-US" smtClean="0"/>
              <a:t>2025-08-02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AE89BD-D304-4FFC-9357-5BFCF07153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79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8/2/2025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1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1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61DBB-5BB1-4A23-99FF-C5D0CD634F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9058" y="3428998"/>
            <a:ext cx="5930816" cy="2268559"/>
          </a:xfrm>
        </p:spPr>
        <p:txBody>
          <a:bodyPr>
            <a:normAutofit/>
          </a:bodyPr>
          <a:lstStyle/>
          <a:p>
            <a:r>
              <a:rPr lang="en-US" altLang="ko-KR" sz="5000" dirty="0" err="1">
                <a:latin typeface="휴먼옛체" panose="02030504000101010101" pitchFamily="18" charset="-127"/>
                <a:ea typeface="휴먼옛체" panose="02030504000101010101" pitchFamily="18" charset="-127"/>
              </a:rPr>
              <a:t>Ninja</a:t>
            </a:r>
            <a:r>
              <a:rPr lang="en-US" altLang="ko-KR" sz="5000" dirty="0" err="1"/>
              <a:t>N</a:t>
            </a:r>
            <a:r>
              <a:rPr lang="en-US" altLang="ko-KR" sz="5000" dirty="0" err="1">
                <a:latin typeface="휴먼편지체" panose="02030504000101010101" pitchFamily="18" charset="-127"/>
                <a:ea typeface="휴먼편지체" panose="02030504000101010101" pitchFamily="18" charset="-127"/>
              </a:rPr>
              <a:t>Matching</a:t>
            </a:r>
            <a:r>
              <a:rPr lang="en-US" altLang="ko-KR" sz="5000" dirty="0"/>
              <a:t> UI</a:t>
            </a:r>
            <a:endParaRPr lang="ko-KR" altLang="en-US" sz="5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7900581-3050-4915-B0D3-6B08C54BE6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ko-KR" sz="3500" dirty="0"/>
              <a:t>UI </a:t>
            </a:r>
            <a:r>
              <a:rPr lang="ko-KR" altLang="en-US" sz="3500" dirty="0"/>
              <a:t>프레임워크 기획</a:t>
            </a:r>
          </a:p>
        </p:txBody>
      </p:sp>
    </p:spTree>
    <p:extLst>
      <p:ext uri="{BB962C8B-B14F-4D97-AF65-F5344CB8AC3E}">
        <p14:creationId xmlns:p14="http://schemas.microsoft.com/office/powerpoint/2010/main" val="3585826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DF6487D-1DF5-4A5E-A172-9E247F4734AA}"/>
              </a:ext>
            </a:extLst>
          </p:cNvPr>
          <p:cNvSpPr/>
          <p:nvPr/>
        </p:nvSpPr>
        <p:spPr>
          <a:xfrm>
            <a:off x="4631500" y="5207202"/>
            <a:ext cx="1091013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팁 출력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4936388" y="3754600"/>
            <a:ext cx="1004495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로딩바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5101984" y="1239859"/>
            <a:ext cx="1004495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배경맵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873" y="1009651"/>
            <a:ext cx="2442376" cy="4329112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54131" y="1466478"/>
            <a:ext cx="1347853" cy="9993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54131" y="3989281"/>
            <a:ext cx="1182798" cy="7037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30FF9065-8824-431E-BF84-DFDAD120477A}"/>
              </a:ext>
            </a:extLst>
          </p:cNvPr>
          <p:cNvCxnSpPr>
            <a:cxnSpLocks/>
          </p:cNvCxnSpPr>
          <p:nvPr/>
        </p:nvCxnSpPr>
        <p:spPr>
          <a:xfrm rot="10800000">
            <a:off x="3428219" y="4849620"/>
            <a:ext cx="1203281" cy="584201"/>
          </a:xfrm>
          <a:prstGeom prst="bentConnector3">
            <a:avLst>
              <a:gd name="adj1" fmla="val 208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491356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0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8566"/>
              </p:ext>
            </p:extLst>
          </p:nvPr>
        </p:nvGraphicFramePr>
        <p:xfrm>
          <a:off x="8069053" y="1815302"/>
          <a:ext cx="3014653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배경맵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우측으로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배경 이미지 출력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14711511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4782124" y="2512286"/>
            <a:ext cx="1158759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로딩로고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72758" y="2755235"/>
            <a:ext cx="1609366" cy="1007427"/>
          </a:xfrm>
          <a:prstGeom prst="bentConnector3">
            <a:avLst>
              <a:gd name="adj1" fmla="val 254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593934"/>
              </p:ext>
            </p:extLst>
          </p:nvPr>
        </p:nvGraphicFramePr>
        <p:xfrm>
          <a:off x="8069052" y="360905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로딩바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개수 달라짐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로딩 완료 시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1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499519"/>
              </p:ext>
            </p:extLst>
          </p:nvPr>
        </p:nvGraphicFramePr>
        <p:xfrm>
          <a:off x="8069053" y="2849339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로딩로고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개수 달라짐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3" name="표 19">
            <a:extLst>
              <a:ext uri="{FF2B5EF4-FFF2-40B4-BE49-F238E27FC236}">
                <a16:creationId xmlns:a16="http://schemas.microsoft.com/office/drawing/2014/main" id="{78074423-4C44-4A0D-ADB3-E196CA870D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02607"/>
              </p:ext>
            </p:extLst>
          </p:nvPr>
        </p:nvGraphicFramePr>
        <p:xfrm>
          <a:off x="8060355" y="4552768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팁 출력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팁 텍스트 출력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983154" y="111923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4663294" y="239736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6127" y="273890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817558" y="364383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47431" y="349022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EE5DCAE-BFBA-4A26-8B71-FB88BFC9D4AE}"/>
              </a:ext>
            </a:extLst>
          </p:cNvPr>
          <p:cNvSpPr/>
          <p:nvPr/>
        </p:nvSpPr>
        <p:spPr>
          <a:xfrm>
            <a:off x="4509996" y="509409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40778C14-FABC-494F-874F-308838DB03D0}"/>
              </a:ext>
            </a:extLst>
          </p:cNvPr>
          <p:cNvSpPr/>
          <p:nvPr/>
        </p:nvSpPr>
        <p:spPr>
          <a:xfrm>
            <a:off x="7947431" y="443282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FADF4AF-4005-320A-07F4-7A94230DA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655493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15 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4166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4756088" y="1757027"/>
            <a:ext cx="1469452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클리어 기록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4908438" y="698136"/>
            <a:ext cx="1855052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타이틀 에피소드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35" y="1009651"/>
            <a:ext cx="2412451" cy="4329112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26290" y="960657"/>
            <a:ext cx="1074665" cy="86418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01241" y="2000533"/>
            <a:ext cx="2454849" cy="55113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28032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675435"/>
              </p:ext>
            </p:extLst>
          </p:nvPr>
        </p:nvGraphicFramePr>
        <p:xfrm>
          <a:off x="8069053" y="1815302"/>
          <a:ext cx="3014653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타이틀 에피소드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버튼 클릭 시 하이라이트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좌우 버튼을 이용해 지도와 타이틀 변경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최소 스테이지는 좌측 버튼 비활성화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하단 버튼을 이용해 숨기기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4782124" y="2512286"/>
            <a:ext cx="1158759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스테이지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>
            <a:off x="2220686" y="2635024"/>
            <a:ext cx="2561438" cy="120211"/>
          </a:xfrm>
          <a:prstGeom prst="bentConnector3">
            <a:avLst>
              <a:gd name="adj1" fmla="val 161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687186"/>
              </p:ext>
            </p:extLst>
          </p:nvPr>
        </p:nvGraphicFramePr>
        <p:xfrm>
          <a:off x="8073658" y="5225017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클리어 기록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도달 스테이지는 </a:t>
                      </a:r>
                      <a:r>
                        <a:rPr lang="en-US" altLang="ko-KR" sz="1200" dirty="0"/>
                        <a:t>0.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클리어 스테이지는 최소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에서 조건에 따라 최대 </a:t>
                      </a:r>
                      <a:r>
                        <a:rPr lang="en-US" altLang="ko-KR" sz="1200" dirty="0"/>
                        <a:t>3.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019902"/>
              </p:ext>
            </p:extLst>
          </p:nvPr>
        </p:nvGraphicFramePr>
        <p:xfrm>
          <a:off x="8063147" y="3380313"/>
          <a:ext cx="3014653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스테이지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마우스를 올리면 하이라이트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클릭 시 선택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선택 시 이미지 변경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2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Index</a:t>
                      </a:r>
                      <a:r>
                        <a:rPr lang="ko-KR" altLang="en-US" sz="1200" dirty="0"/>
                        <a:t>가 도달 스테이지보다 크면 상호작용 불가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689340407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789608" y="5775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4663294" y="239736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0221" y="326987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637258" y="164626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52037" y="510618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F1A9A28-D382-FD98-E6A8-1B80F43B4D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487025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0, 2 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465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4908438" y="698136"/>
            <a:ext cx="1855052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타이틀 에피소드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ㅇㅇㅇ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693" y="1022835"/>
            <a:ext cx="2429700" cy="4308021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36394" y="960657"/>
            <a:ext cx="1064563" cy="6683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874118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9910"/>
              </p:ext>
            </p:extLst>
          </p:nvPr>
        </p:nvGraphicFramePr>
        <p:xfrm>
          <a:off x="8069053" y="1815302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타이틀 에피소드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하단 버튼 클릭하여 타이틀 에피소드를 보이도록 할 수 있음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숨기기 상태가 기본값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789608" y="5775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8084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4908438" y="698136"/>
            <a:ext cx="1855052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타이틀 에피소드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ㅇㅇㅇ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693" y="1014413"/>
            <a:ext cx="2429700" cy="4324865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26290" y="960657"/>
            <a:ext cx="1074665" cy="86418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438794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183079"/>
              </p:ext>
            </p:extLst>
          </p:nvPr>
        </p:nvGraphicFramePr>
        <p:xfrm>
          <a:off x="8069053" y="1815302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타이틀 에피소드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마지막 스테이지 도달 시 우측 버튼 비활성화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에피소드 변경 시 텍스트 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12883038"/>
                  </a:ext>
                </a:extLst>
              </a:tr>
            </a:tbl>
          </a:graphicData>
        </a:graphic>
      </p:graphicFrame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366843"/>
              </p:ext>
            </p:extLst>
          </p:nvPr>
        </p:nvGraphicFramePr>
        <p:xfrm>
          <a:off x="8071842" y="3297269"/>
          <a:ext cx="3014653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지도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에피소드의 마지막 스테이지 클리어 시 다음 에피소드 첫 스테이지 개방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에피소드 </a:t>
                      </a:r>
                      <a:r>
                        <a:rPr lang="en-US" altLang="ko-KR" sz="1200" dirty="0"/>
                        <a:t>index</a:t>
                      </a:r>
                      <a:r>
                        <a:rPr lang="ko-KR" altLang="en-US" sz="1200" dirty="0"/>
                        <a:t>에 맞춰 지도 이미지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도달 스테이지 검사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013350297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789608" y="5775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50221" y="317843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77945D2-D198-4A1D-A72E-D531072F94C4}"/>
              </a:ext>
            </a:extLst>
          </p:cNvPr>
          <p:cNvSpPr/>
          <p:nvPr/>
        </p:nvSpPr>
        <p:spPr>
          <a:xfrm>
            <a:off x="4999448" y="3393789"/>
            <a:ext cx="656780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지도</a:t>
            </a:r>
          </a:p>
        </p:txBody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3B3EA5AE-9FD8-4C0B-81D3-E2AE3234F1AA}"/>
              </a:ext>
            </a:extLst>
          </p:cNvPr>
          <p:cNvCxnSpPr>
            <a:cxnSpLocks/>
          </p:cNvCxnSpPr>
          <p:nvPr/>
        </p:nvCxnSpPr>
        <p:spPr>
          <a:xfrm rot="10800000">
            <a:off x="3836394" y="3101162"/>
            <a:ext cx="1155573" cy="5551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BE636599-4990-48EE-996C-25669E5B0006}"/>
              </a:ext>
            </a:extLst>
          </p:cNvPr>
          <p:cNvSpPr/>
          <p:nvPr/>
        </p:nvSpPr>
        <p:spPr>
          <a:xfrm>
            <a:off x="4880618" y="327316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3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5005114" y="2059853"/>
            <a:ext cx="1469452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나가기 버튼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181" y="1024893"/>
            <a:ext cx="2431064" cy="4315138"/>
          </a:xfrm>
          <a:prstGeom prst="rect">
            <a:avLst/>
          </a:prstGeom>
        </p:spPr>
      </p:pic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19537" y="2306959"/>
            <a:ext cx="1776433" cy="531581"/>
          </a:xfrm>
          <a:prstGeom prst="bentConnector3">
            <a:avLst>
              <a:gd name="adj1" fmla="val 10967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8057424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209266"/>
              </p:ext>
            </p:extLst>
          </p:nvPr>
        </p:nvGraphicFramePr>
        <p:xfrm>
          <a:off x="8069053" y="1815302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외부 화면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외부 화면 상호작용 불가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5306993" y="3116398"/>
            <a:ext cx="1393495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몬스터 정보</a:t>
            </a:r>
            <a:endParaRPr lang="ko-KR" altLang="en-US" dirty="0"/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>
            <a:off x="2416493" y="3124346"/>
            <a:ext cx="2890500" cy="235003"/>
          </a:xfrm>
          <a:prstGeom prst="bentConnector3">
            <a:avLst>
              <a:gd name="adj1" fmla="val 99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97152"/>
              </p:ext>
            </p:extLst>
          </p:nvPr>
        </p:nvGraphicFramePr>
        <p:xfrm>
          <a:off x="8063147" y="2579729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나가기 버튼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클릭 시 스테이지 선택 해제 및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1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5188163" y="300147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0221" y="246929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886284" y="194908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426DFE9-050A-4736-AF10-33C5291AF574}"/>
              </a:ext>
            </a:extLst>
          </p:cNvPr>
          <p:cNvSpPr/>
          <p:nvPr/>
        </p:nvSpPr>
        <p:spPr>
          <a:xfrm>
            <a:off x="5062450" y="3899672"/>
            <a:ext cx="1158759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스크롤바</a:t>
            </a: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3912E28-71E7-4840-AB30-B1D029A2C7D6}"/>
              </a:ext>
            </a:extLst>
          </p:cNvPr>
          <p:cNvCxnSpPr>
            <a:cxnSpLocks/>
          </p:cNvCxnSpPr>
          <p:nvPr/>
        </p:nvCxnSpPr>
        <p:spPr>
          <a:xfrm rot="10800000">
            <a:off x="2471202" y="3358836"/>
            <a:ext cx="2591253" cy="783791"/>
          </a:xfrm>
          <a:prstGeom prst="bentConnector3">
            <a:avLst>
              <a:gd name="adj1" fmla="val 11771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타원 35">
            <a:extLst>
              <a:ext uri="{FF2B5EF4-FFF2-40B4-BE49-F238E27FC236}">
                <a16:creationId xmlns:a16="http://schemas.microsoft.com/office/drawing/2014/main" id="{26142435-8557-4BCB-95B3-2D727366D677}"/>
              </a:ext>
            </a:extLst>
          </p:cNvPr>
          <p:cNvSpPr/>
          <p:nvPr/>
        </p:nvSpPr>
        <p:spPr>
          <a:xfrm>
            <a:off x="4943620" y="378474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56F3555-D676-4299-BE2C-07F91315657E}"/>
              </a:ext>
            </a:extLst>
          </p:cNvPr>
          <p:cNvSpPr/>
          <p:nvPr/>
        </p:nvSpPr>
        <p:spPr>
          <a:xfrm>
            <a:off x="4796796" y="4744862"/>
            <a:ext cx="1299204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시작 버튼</a:t>
            </a:r>
            <a:endParaRPr lang="ko-KR" altLang="en-US" dirty="0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063F7419-9CF1-4C87-B560-02A0FEB87CE1}"/>
              </a:ext>
            </a:extLst>
          </p:cNvPr>
          <p:cNvCxnSpPr>
            <a:cxnSpLocks/>
          </p:cNvCxnSpPr>
          <p:nvPr/>
        </p:nvCxnSpPr>
        <p:spPr>
          <a:xfrm rot="10800000">
            <a:off x="3236492" y="3566056"/>
            <a:ext cx="1560309" cy="1421760"/>
          </a:xfrm>
          <a:prstGeom prst="bentConnector3">
            <a:avLst>
              <a:gd name="adj1" fmla="val 2509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타원 38">
            <a:extLst>
              <a:ext uri="{FF2B5EF4-FFF2-40B4-BE49-F238E27FC236}">
                <a16:creationId xmlns:a16="http://schemas.microsoft.com/office/drawing/2014/main" id="{001AA6B9-8736-4B50-8F30-60E8AB40803D}"/>
              </a:ext>
            </a:extLst>
          </p:cNvPr>
          <p:cNvSpPr/>
          <p:nvPr/>
        </p:nvSpPr>
        <p:spPr>
          <a:xfrm>
            <a:off x="4677966" y="462993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FBE1357-1B95-466E-A0DC-66054FD35255}"/>
              </a:ext>
            </a:extLst>
          </p:cNvPr>
          <p:cNvSpPr/>
          <p:nvPr/>
        </p:nvSpPr>
        <p:spPr>
          <a:xfrm>
            <a:off x="5019543" y="1266092"/>
            <a:ext cx="1170155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외부 화면</a:t>
            </a:r>
            <a:endParaRPr lang="ko-KR" altLang="en-US" dirty="0"/>
          </a:p>
        </p:txBody>
      </p:sp>
      <p:cxnSp>
        <p:nvCxnSpPr>
          <p:cNvPr id="46" name="연결선: 꺾임 45">
            <a:extLst>
              <a:ext uri="{FF2B5EF4-FFF2-40B4-BE49-F238E27FC236}">
                <a16:creationId xmlns:a16="http://schemas.microsoft.com/office/drawing/2014/main" id="{67BDDEA7-E33A-4546-9FA9-59B6CC4BEA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40246" y="1513198"/>
            <a:ext cx="1170155" cy="673548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타원 46">
            <a:extLst>
              <a:ext uri="{FF2B5EF4-FFF2-40B4-BE49-F238E27FC236}">
                <a16:creationId xmlns:a16="http://schemas.microsoft.com/office/drawing/2014/main" id="{B025FBCB-2F71-4356-A5AC-828695D3D2FE}"/>
              </a:ext>
            </a:extLst>
          </p:cNvPr>
          <p:cNvSpPr/>
          <p:nvPr/>
        </p:nvSpPr>
        <p:spPr>
          <a:xfrm>
            <a:off x="4900713" y="115532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5" name="표 19">
            <a:extLst>
              <a:ext uri="{FF2B5EF4-FFF2-40B4-BE49-F238E27FC236}">
                <a16:creationId xmlns:a16="http://schemas.microsoft.com/office/drawing/2014/main" id="{30C90A5E-EC93-47FB-BE5E-83DEFC42BA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66992"/>
              </p:ext>
            </p:extLst>
          </p:nvPr>
        </p:nvGraphicFramePr>
        <p:xfrm>
          <a:off x="8063147" y="3524436"/>
          <a:ext cx="3014653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 정보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드래그 앤 드롭으로 스크롤바 이동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몬스터마다 이름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초상화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등급을 포함한 </a:t>
                      </a:r>
                      <a:r>
                        <a:rPr lang="en-US" altLang="ko-KR" sz="1200" dirty="0"/>
                        <a:t>UI </a:t>
                      </a:r>
                      <a:r>
                        <a:rPr lang="ko-KR" altLang="en-US" sz="1200" dirty="0"/>
                        <a:t>출력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77248206"/>
                  </a:ext>
                </a:extLst>
              </a:tr>
            </a:tbl>
          </a:graphicData>
        </a:graphic>
      </p:graphicFrame>
      <p:sp>
        <p:nvSpPr>
          <p:cNvPr id="56" name="타원 55">
            <a:extLst>
              <a:ext uri="{FF2B5EF4-FFF2-40B4-BE49-F238E27FC236}">
                <a16:creationId xmlns:a16="http://schemas.microsoft.com/office/drawing/2014/main" id="{EFE62B2B-9ADD-497B-A410-D02F59AF0815}"/>
              </a:ext>
            </a:extLst>
          </p:cNvPr>
          <p:cNvSpPr/>
          <p:nvPr/>
        </p:nvSpPr>
        <p:spPr>
          <a:xfrm>
            <a:off x="7950221" y="341400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7" name="표 19">
            <a:extLst>
              <a:ext uri="{FF2B5EF4-FFF2-40B4-BE49-F238E27FC236}">
                <a16:creationId xmlns:a16="http://schemas.microsoft.com/office/drawing/2014/main" id="{D8084AA0-6290-4282-AD01-14F0A2939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529799"/>
              </p:ext>
            </p:extLst>
          </p:nvPr>
        </p:nvGraphicFramePr>
        <p:xfrm>
          <a:off x="8063146" y="5115018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스크롤바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드래그 앤 드롭으로 이동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44317" y="4994678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8" name="표 19">
            <a:extLst>
              <a:ext uri="{FF2B5EF4-FFF2-40B4-BE49-F238E27FC236}">
                <a16:creationId xmlns:a16="http://schemas.microsoft.com/office/drawing/2014/main" id="{9FA62832-98F7-417C-B706-8181711696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994154"/>
              </p:ext>
            </p:extLst>
          </p:nvPr>
        </p:nvGraphicFramePr>
        <p:xfrm>
          <a:off x="8063146" y="5884150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시작 버튼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클릭하여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3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9" name="타원 58">
            <a:extLst>
              <a:ext uri="{FF2B5EF4-FFF2-40B4-BE49-F238E27FC236}">
                <a16:creationId xmlns:a16="http://schemas.microsoft.com/office/drawing/2014/main" id="{08A510E2-514F-41DA-98F0-887A9982FE19}"/>
              </a:ext>
            </a:extLst>
          </p:cNvPr>
          <p:cNvSpPr/>
          <p:nvPr/>
        </p:nvSpPr>
        <p:spPr>
          <a:xfrm>
            <a:off x="7944317" y="576381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6E3F09D-EBEF-A290-D924-F5C459107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0283946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3889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5005114" y="2059853"/>
            <a:ext cx="1469452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별 획득 조건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181" y="1024893"/>
            <a:ext cx="2431064" cy="4315138"/>
          </a:xfrm>
          <a:prstGeom prst="rect">
            <a:avLst/>
          </a:prstGeom>
        </p:spPr>
      </p:pic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28975" y="2306959"/>
            <a:ext cx="1766996" cy="764854"/>
          </a:xfrm>
          <a:prstGeom prst="bentConnector3">
            <a:avLst>
              <a:gd name="adj1" fmla="val 3302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507930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977491"/>
              </p:ext>
            </p:extLst>
          </p:nvPr>
        </p:nvGraphicFramePr>
        <p:xfrm>
          <a:off x="8069053" y="1815302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69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41595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대기 시간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5346628" y="2713827"/>
            <a:ext cx="1178129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 시간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  <a:stCxn id="30" idx="1"/>
          </p:cNvCxnSpPr>
          <p:nvPr/>
        </p:nvCxnSpPr>
        <p:spPr>
          <a:xfrm rot="10800000" flipV="1">
            <a:off x="2589248" y="2940445"/>
            <a:ext cx="2757381" cy="217181"/>
          </a:xfrm>
          <a:prstGeom prst="bentConnector3">
            <a:avLst>
              <a:gd name="adj1" fmla="val 29101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292263"/>
              </p:ext>
            </p:extLst>
          </p:nvPr>
        </p:nvGraphicFramePr>
        <p:xfrm>
          <a:off x="8063147" y="2579729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3910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맞출 카드 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맞출 카드 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6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5227798" y="259890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6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0221" y="246929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7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886284" y="194908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9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426DFE9-050A-4736-AF10-33C5291AF574}"/>
              </a:ext>
            </a:extLst>
          </p:cNvPr>
          <p:cNvSpPr/>
          <p:nvPr/>
        </p:nvSpPr>
        <p:spPr>
          <a:xfrm>
            <a:off x="5062449" y="3899672"/>
            <a:ext cx="1509213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맞출 카드 수</a:t>
            </a: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3912E28-71E7-4840-AB30-B1D029A2C7D6}"/>
              </a:ext>
            </a:extLst>
          </p:cNvPr>
          <p:cNvCxnSpPr>
            <a:cxnSpLocks/>
          </p:cNvCxnSpPr>
          <p:nvPr/>
        </p:nvCxnSpPr>
        <p:spPr>
          <a:xfrm rot="10800000">
            <a:off x="2595564" y="3359352"/>
            <a:ext cx="2466893" cy="783277"/>
          </a:xfrm>
          <a:prstGeom prst="bentConnector3">
            <a:avLst>
              <a:gd name="adj1" fmla="val 2046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타원 35">
            <a:extLst>
              <a:ext uri="{FF2B5EF4-FFF2-40B4-BE49-F238E27FC236}">
                <a16:creationId xmlns:a16="http://schemas.microsoft.com/office/drawing/2014/main" id="{26142435-8557-4BCB-95B3-2D727366D677}"/>
              </a:ext>
            </a:extLst>
          </p:cNvPr>
          <p:cNvSpPr/>
          <p:nvPr/>
        </p:nvSpPr>
        <p:spPr>
          <a:xfrm>
            <a:off x="4943620" y="378474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7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56F3555-D676-4299-BE2C-07F91315657E}"/>
              </a:ext>
            </a:extLst>
          </p:cNvPr>
          <p:cNvSpPr/>
          <p:nvPr/>
        </p:nvSpPr>
        <p:spPr>
          <a:xfrm>
            <a:off x="4777530" y="4693463"/>
            <a:ext cx="717624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보상</a:t>
            </a:r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063F7419-9CF1-4C87-B560-02A0FEB87CE1}"/>
              </a:ext>
            </a:extLst>
          </p:cNvPr>
          <p:cNvCxnSpPr>
            <a:cxnSpLocks/>
            <a:stCxn id="37" idx="1"/>
          </p:cNvCxnSpPr>
          <p:nvPr/>
        </p:nvCxnSpPr>
        <p:spPr>
          <a:xfrm rot="10800000">
            <a:off x="2608994" y="3532832"/>
            <a:ext cx="2168537" cy="1387250"/>
          </a:xfrm>
          <a:prstGeom prst="bentConnector3">
            <a:avLst>
              <a:gd name="adj1" fmla="val 16618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타원 38">
            <a:extLst>
              <a:ext uri="{FF2B5EF4-FFF2-40B4-BE49-F238E27FC236}">
                <a16:creationId xmlns:a16="http://schemas.microsoft.com/office/drawing/2014/main" id="{001AA6B9-8736-4B50-8F30-60E8AB40803D}"/>
              </a:ext>
            </a:extLst>
          </p:cNvPr>
          <p:cNvSpPr/>
          <p:nvPr/>
        </p:nvSpPr>
        <p:spPr>
          <a:xfrm>
            <a:off x="4658700" y="457854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8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7" name="표 19">
            <a:extLst>
              <a:ext uri="{FF2B5EF4-FFF2-40B4-BE49-F238E27FC236}">
                <a16:creationId xmlns:a16="http://schemas.microsoft.com/office/drawing/2014/main" id="{D8084AA0-6290-4282-AD01-14F0A2939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782398"/>
              </p:ext>
            </p:extLst>
          </p:nvPr>
        </p:nvGraphicFramePr>
        <p:xfrm>
          <a:off x="8072127" y="4175007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별 획득 조건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조건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별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개 조건은 별 </a:t>
                      </a:r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개 조건 이하로 기입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53298" y="405466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9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70" name="표 19">
            <a:extLst>
              <a:ext uri="{FF2B5EF4-FFF2-40B4-BE49-F238E27FC236}">
                <a16:creationId xmlns:a16="http://schemas.microsoft.com/office/drawing/2014/main" id="{862D7DF9-3D36-47FC-ACB0-E449C12E0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778453"/>
              </p:ext>
            </p:extLst>
          </p:nvPr>
        </p:nvGraphicFramePr>
        <p:xfrm>
          <a:off x="8064498" y="3376613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3910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보상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6" name="타원 55">
            <a:extLst>
              <a:ext uri="{FF2B5EF4-FFF2-40B4-BE49-F238E27FC236}">
                <a16:creationId xmlns:a16="http://schemas.microsoft.com/office/drawing/2014/main" id="{EFE62B2B-9ADD-497B-A410-D02F59AF0815}"/>
              </a:ext>
            </a:extLst>
          </p:cNvPr>
          <p:cNvSpPr/>
          <p:nvPr/>
        </p:nvSpPr>
        <p:spPr>
          <a:xfrm>
            <a:off x="7951573" y="324897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8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497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DF6487D-1DF5-4A5E-A172-9E247F4734AA}"/>
              </a:ext>
            </a:extLst>
          </p:cNvPr>
          <p:cNvSpPr/>
          <p:nvPr/>
        </p:nvSpPr>
        <p:spPr>
          <a:xfrm>
            <a:off x="4631500" y="5207202"/>
            <a:ext cx="1091013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팁 출력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4936388" y="3754600"/>
            <a:ext cx="1004495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로딩바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5101984" y="1239859"/>
            <a:ext cx="1004495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배경맵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873" y="1009651"/>
            <a:ext cx="2442376" cy="4329112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54131" y="1466478"/>
            <a:ext cx="1347853" cy="9993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54131" y="3989281"/>
            <a:ext cx="1182798" cy="7037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30FF9065-8824-431E-BF84-DFDAD120477A}"/>
              </a:ext>
            </a:extLst>
          </p:cNvPr>
          <p:cNvCxnSpPr>
            <a:cxnSpLocks/>
          </p:cNvCxnSpPr>
          <p:nvPr/>
        </p:nvCxnSpPr>
        <p:spPr>
          <a:xfrm rot="10800000">
            <a:off x="3428219" y="4849620"/>
            <a:ext cx="1203281" cy="584201"/>
          </a:xfrm>
          <a:prstGeom prst="bentConnector3">
            <a:avLst>
              <a:gd name="adj1" fmla="val 208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34610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3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1815302"/>
          <a:ext cx="3014653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배경맵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우측으로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배경 이미지 출력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14711511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4782124" y="2512286"/>
            <a:ext cx="1158759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로딩로고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72758" y="2755235"/>
            <a:ext cx="1609366" cy="1007427"/>
          </a:xfrm>
          <a:prstGeom prst="bentConnector3">
            <a:avLst>
              <a:gd name="adj1" fmla="val 254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138119"/>
              </p:ext>
            </p:extLst>
          </p:nvPr>
        </p:nvGraphicFramePr>
        <p:xfrm>
          <a:off x="8069052" y="360905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로딩바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개수 달라짐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로딩 완료 시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4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2849339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로딩로고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개수 달라짐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3" name="표 19">
            <a:extLst>
              <a:ext uri="{FF2B5EF4-FFF2-40B4-BE49-F238E27FC236}">
                <a16:creationId xmlns:a16="http://schemas.microsoft.com/office/drawing/2014/main" id="{78074423-4C44-4A0D-ADB3-E196CA870D18}"/>
              </a:ext>
            </a:extLst>
          </p:cNvPr>
          <p:cNvGraphicFramePr>
            <a:graphicFrameLocks noGrp="1"/>
          </p:cNvGraphicFramePr>
          <p:nvPr/>
        </p:nvGraphicFramePr>
        <p:xfrm>
          <a:off x="8060355" y="4552768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팁 출력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팁 텍스트 출력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983154" y="111923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4663294" y="239736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6127" y="273890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817558" y="364383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47431" y="349022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EE5DCAE-BFBA-4A26-8B71-FB88BFC9D4AE}"/>
              </a:ext>
            </a:extLst>
          </p:cNvPr>
          <p:cNvSpPr/>
          <p:nvPr/>
        </p:nvSpPr>
        <p:spPr>
          <a:xfrm>
            <a:off x="4509996" y="509409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40778C14-FABC-494F-874F-308838DB03D0}"/>
              </a:ext>
            </a:extLst>
          </p:cNvPr>
          <p:cNvSpPr/>
          <p:nvPr/>
        </p:nvSpPr>
        <p:spPr>
          <a:xfrm>
            <a:off x="7947431" y="443282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2" name="두루마리 모양: 세로로 말림 1">
            <a:extLst>
              <a:ext uri="{FF2B5EF4-FFF2-40B4-BE49-F238E27FC236}">
                <a16:creationId xmlns:a16="http://schemas.microsoft.com/office/drawing/2014/main" id="{F889573B-4D51-4858-8AE8-53A2B8C13587}"/>
              </a:ext>
            </a:extLst>
          </p:cNvPr>
          <p:cNvSpPr/>
          <p:nvPr/>
        </p:nvSpPr>
        <p:spPr>
          <a:xfrm>
            <a:off x="7814898" y="5840800"/>
            <a:ext cx="3393033" cy="725953"/>
          </a:xfrm>
          <a:prstGeom prst="verticalScroll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/>
              <a:t>깊이 </a:t>
            </a:r>
            <a:r>
              <a:rPr lang="en-US" altLang="ko-KR" sz="3200" dirty="0"/>
              <a:t>0</a:t>
            </a:r>
            <a:r>
              <a:rPr lang="ko-KR" altLang="en-US" sz="3200" dirty="0"/>
              <a:t>과 동일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77F3D85-B022-9959-13F4-15AF841928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243742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2, 15 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4919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4760035" y="2004443"/>
            <a:ext cx="1180848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성공 횟수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4908438" y="698136"/>
            <a:ext cx="927526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배경맵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093" y="1017049"/>
            <a:ext cx="2434359" cy="4329113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36394" y="960656"/>
            <a:ext cx="1064563" cy="40803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1139218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4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0606021"/>
              </p:ext>
            </p:extLst>
          </p:nvPr>
        </p:nvGraphicFramePr>
        <p:xfrm>
          <a:off x="8073658" y="4674870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플레이어 캐릭터가 위치에 도착할 때까지 유지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789608" y="5775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641205" y="189367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52037" y="455604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F846DF50-D5BD-45C8-9B99-1D54C2D7E120}"/>
              </a:ext>
            </a:extLst>
          </p:cNvPr>
          <p:cNvCxnSpPr>
            <a:cxnSpLocks/>
            <a:stCxn id="27" idx="1"/>
          </p:cNvCxnSpPr>
          <p:nvPr/>
        </p:nvCxnSpPr>
        <p:spPr>
          <a:xfrm flipH="1">
            <a:off x="1790701" y="2231062"/>
            <a:ext cx="29693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10CE95AC-C5FB-4E00-B464-89A503423AC5}"/>
              </a:ext>
            </a:extLst>
          </p:cNvPr>
          <p:cNvCxnSpPr>
            <a:cxnSpLocks/>
          </p:cNvCxnSpPr>
          <p:nvPr/>
        </p:nvCxnSpPr>
        <p:spPr>
          <a:xfrm>
            <a:off x="1790700" y="2231062"/>
            <a:ext cx="0" cy="454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71DC7BF7-403F-4246-A390-176CB6AA4A3C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826299" y="2804167"/>
            <a:ext cx="933737" cy="28744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F81692F-ADB4-43CB-8033-2AA29C17A9B0}"/>
              </a:ext>
            </a:extLst>
          </p:cNvPr>
          <p:cNvSpPr/>
          <p:nvPr/>
        </p:nvSpPr>
        <p:spPr>
          <a:xfrm>
            <a:off x="4760035" y="2864994"/>
            <a:ext cx="1180848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실패 횟수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48E1055-72DC-40C7-A3B9-4C025A8E998A}"/>
              </a:ext>
            </a:extLst>
          </p:cNvPr>
          <p:cNvSpPr/>
          <p:nvPr/>
        </p:nvSpPr>
        <p:spPr>
          <a:xfrm>
            <a:off x="4641205" y="275422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/>
        </p:nvGraphicFramePr>
        <p:xfrm>
          <a:off x="8063146" y="1828807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배경맵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</a:t>
                      </a:r>
                      <a:r>
                        <a:rPr lang="ko-KR" altLang="en-US" sz="1200" dirty="0" err="1"/>
                        <a:t>배경맵</a:t>
                      </a:r>
                      <a:r>
                        <a:rPr lang="ko-KR" altLang="en-US" sz="1200" dirty="0"/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871081" y="335130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23908" y="3755136"/>
            <a:ext cx="1390279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메시지 박스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710965" y="362758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6" name="표 19">
            <a:extLst>
              <a:ext uri="{FF2B5EF4-FFF2-40B4-BE49-F238E27FC236}">
                <a16:creationId xmlns:a16="http://schemas.microsoft.com/office/drawing/2014/main" id="{7F9A3092-F6C9-42D1-92E5-C3A1F881A4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915549"/>
              </p:ext>
            </p:extLst>
          </p:nvPr>
        </p:nvGraphicFramePr>
        <p:xfrm>
          <a:off x="8064962" y="2684780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성공 횟수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 짝을 맞출 때마다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씩 증가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깊이 </a:t>
                      </a:r>
                      <a:r>
                        <a:rPr lang="en-US" altLang="ko-KR" sz="1200" dirty="0"/>
                        <a:t>5</a:t>
                      </a:r>
                      <a:r>
                        <a:rPr lang="ko-KR" altLang="en-US" sz="1200" dirty="0"/>
                        <a:t>에서 재사용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67" name="타원 66">
            <a:extLst>
              <a:ext uri="{FF2B5EF4-FFF2-40B4-BE49-F238E27FC236}">
                <a16:creationId xmlns:a16="http://schemas.microsoft.com/office/drawing/2014/main" id="{41673868-8EEC-4917-A6CD-6F38107BA2B2}"/>
              </a:ext>
            </a:extLst>
          </p:cNvPr>
          <p:cNvSpPr/>
          <p:nvPr/>
        </p:nvSpPr>
        <p:spPr>
          <a:xfrm>
            <a:off x="7952037" y="2557818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8" name="표 19">
            <a:extLst>
              <a:ext uri="{FF2B5EF4-FFF2-40B4-BE49-F238E27FC236}">
                <a16:creationId xmlns:a16="http://schemas.microsoft.com/office/drawing/2014/main" id="{F6835C4E-AF82-4631-A11A-13DFEE5EA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872895"/>
              </p:ext>
            </p:extLst>
          </p:nvPr>
        </p:nvGraphicFramePr>
        <p:xfrm>
          <a:off x="8064962" y="3679825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실패 횟수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 짝을 틀릴 때마다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씩 증가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깊이 </a:t>
                      </a:r>
                      <a:r>
                        <a:rPr lang="en-US" altLang="ko-KR" sz="1200" dirty="0"/>
                        <a:t>5</a:t>
                      </a:r>
                      <a:r>
                        <a:rPr lang="ko-KR" altLang="en-US" sz="1200" dirty="0"/>
                        <a:t>에서 재사용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69" name="타원 68">
            <a:extLst>
              <a:ext uri="{FF2B5EF4-FFF2-40B4-BE49-F238E27FC236}">
                <a16:creationId xmlns:a16="http://schemas.microsoft.com/office/drawing/2014/main" id="{BEE4BDFC-83B8-48CD-A6E6-9503661729E7}"/>
              </a:ext>
            </a:extLst>
          </p:cNvPr>
          <p:cNvSpPr/>
          <p:nvPr/>
        </p:nvSpPr>
        <p:spPr>
          <a:xfrm>
            <a:off x="7952037" y="355286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942CEF6-2D92-50A5-A12B-E22D8A6936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1600527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3 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6253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128" y="996384"/>
            <a:ext cx="2443576" cy="4340726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316530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4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9156F824-5CBC-464F-9300-F8A625D76BCE}"/>
              </a:ext>
            </a:extLst>
          </p:cNvPr>
          <p:cNvCxnSpPr>
            <a:cxnSpLocks/>
            <a:stCxn id="38" idx="1"/>
          </p:cNvCxnSpPr>
          <p:nvPr/>
        </p:nvCxnSpPr>
        <p:spPr>
          <a:xfrm rot="10800000" flipV="1">
            <a:off x="2174033" y="1599969"/>
            <a:ext cx="2575500" cy="497096"/>
          </a:xfrm>
          <a:prstGeom prst="bentConnector3">
            <a:avLst>
              <a:gd name="adj1" fmla="val 14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88C601EB-A374-4EF4-B787-A9B1CB920915}"/>
              </a:ext>
            </a:extLst>
          </p:cNvPr>
          <p:cNvSpPr/>
          <p:nvPr/>
        </p:nvSpPr>
        <p:spPr>
          <a:xfrm>
            <a:off x="4749533" y="1373350"/>
            <a:ext cx="1885709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플레이어 캐릭터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4D7CEEE-2BC6-47AD-9673-5B8F03E57C05}"/>
              </a:ext>
            </a:extLst>
          </p:cNvPr>
          <p:cNvSpPr/>
          <p:nvPr/>
        </p:nvSpPr>
        <p:spPr>
          <a:xfrm>
            <a:off x="4630704" y="125272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47" name="표 19">
            <a:extLst>
              <a:ext uri="{FF2B5EF4-FFF2-40B4-BE49-F238E27FC236}">
                <a16:creationId xmlns:a16="http://schemas.microsoft.com/office/drawing/2014/main" id="{63DF977B-BF3C-4790-B86E-B58F798B4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201637"/>
              </p:ext>
            </p:extLst>
          </p:nvPr>
        </p:nvGraphicFramePr>
        <p:xfrm>
          <a:off x="8073658" y="1921944"/>
          <a:ext cx="3014653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플레이어 캐릭터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왼쪽에서 등장하여 </a:t>
                      </a:r>
                      <a:r>
                        <a:rPr lang="ko-KR" altLang="en-US" sz="1200" u="sng" dirty="0"/>
                        <a:t>가운데 위치</a:t>
                      </a:r>
                      <a:r>
                        <a:rPr lang="ko-KR" altLang="en-US" sz="1200" dirty="0"/>
                        <a:t>로 이동해 앞뒤를 살펴본 후 </a:t>
                      </a:r>
                      <a:r>
                        <a:rPr lang="ko-KR" altLang="en-US" sz="1200" u="sng" dirty="0"/>
                        <a:t>플레이어 위치</a:t>
                      </a:r>
                      <a:r>
                        <a:rPr lang="ko-KR" altLang="en-US" sz="1200" dirty="0"/>
                        <a:t>로 이동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플레이어 위치에 도달 후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5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초기 등장 패턴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레벨에 따른 공격력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방어력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체력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등장 속도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스킬 공격력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62342567"/>
                  </a:ext>
                </a:extLst>
              </a:tr>
            </a:tbl>
          </a:graphicData>
        </a:graphic>
      </p:graphicFrame>
      <p:sp>
        <p:nvSpPr>
          <p:cNvPr id="48" name="타원 47">
            <a:extLst>
              <a:ext uri="{FF2B5EF4-FFF2-40B4-BE49-F238E27FC236}">
                <a16:creationId xmlns:a16="http://schemas.microsoft.com/office/drawing/2014/main" id="{553FBBF1-3EA9-492C-A634-E0EEA6669A0C}"/>
              </a:ext>
            </a:extLst>
          </p:cNvPr>
          <p:cNvSpPr/>
          <p:nvPr/>
        </p:nvSpPr>
        <p:spPr>
          <a:xfrm>
            <a:off x="7960733" y="179498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E2A6E93A-5461-4CBF-A75F-C7C0A7CADEAF}"/>
              </a:ext>
            </a:extLst>
          </p:cNvPr>
          <p:cNvGrpSpPr/>
          <p:nvPr/>
        </p:nvGrpSpPr>
        <p:grpSpPr>
          <a:xfrm>
            <a:off x="9616490" y="4523780"/>
            <a:ext cx="1524853" cy="1213220"/>
            <a:chOff x="4385999" y="4272456"/>
            <a:chExt cx="2576561" cy="2049992"/>
          </a:xfrm>
        </p:grpSpPr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DEFAA3FB-87B6-4573-A532-CE92904C64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64835"/>
            <a:stretch/>
          </p:blipFill>
          <p:spPr>
            <a:xfrm>
              <a:off x="4491507" y="4272456"/>
              <a:ext cx="2365547" cy="147930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33C9B59-8FB9-4EE8-BD38-84205C94A2C9}"/>
                </a:ext>
              </a:extLst>
            </p:cNvPr>
            <p:cNvSpPr txBox="1"/>
            <p:nvPr/>
          </p:nvSpPr>
          <p:spPr>
            <a:xfrm>
              <a:off x="4385999" y="5750389"/>
              <a:ext cx="2576561" cy="572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/>
                <a:t>플레이어 위치</a:t>
              </a: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5624EB10-3019-40C9-B48C-BA85CC7E8A5A}"/>
              </a:ext>
            </a:extLst>
          </p:cNvPr>
          <p:cNvGrpSpPr/>
          <p:nvPr/>
        </p:nvGrpSpPr>
        <p:grpSpPr>
          <a:xfrm>
            <a:off x="8073659" y="4518884"/>
            <a:ext cx="1441582" cy="1216514"/>
            <a:chOff x="4630704" y="2206647"/>
            <a:chExt cx="2382700" cy="2010699"/>
          </a:xfrm>
        </p:grpSpPr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A5C78F49-8A75-4C85-81EE-8F656B739C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64773"/>
            <a:stretch/>
          </p:blipFill>
          <p:spPr>
            <a:xfrm>
              <a:off x="4630704" y="2206647"/>
              <a:ext cx="2365547" cy="1476559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50A0E1-F6BE-4D91-BBEB-E1D004F2567D}"/>
                </a:ext>
              </a:extLst>
            </p:cNvPr>
            <p:cNvSpPr txBox="1"/>
            <p:nvPr/>
          </p:nvSpPr>
          <p:spPr>
            <a:xfrm>
              <a:off x="4630704" y="3683207"/>
              <a:ext cx="2382700" cy="534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/>
                <a:t>가운데 위치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4674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258" y="1009651"/>
            <a:ext cx="2439711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068139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0756463"/>
              </p:ext>
            </p:extLst>
          </p:nvPr>
        </p:nvGraphicFramePr>
        <p:xfrm>
          <a:off x="8063146" y="1828807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캐릭터 이름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공격력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방어력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체력</a:t>
                      </a:r>
                      <a:r>
                        <a:rPr lang="en-US" altLang="ko-KR" sz="1200" dirty="0"/>
                        <a:t>(0~1)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경험치</a:t>
                      </a:r>
                      <a:r>
                        <a:rPr lang="en-US" altLang="ko-KR" sz="1200" dirty="0"/>
                        <a:t>(0~1)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8" name="표 19">
            <a:extLst>
              <a:ext uri="{FF2B5EF4-FFF2-40B4-BE49-F238E27FC236}">
                <a16:creationId xmlns:a16="http://schemas.microsoft.com/office/drawing/2014/main" id="{F6835C4E-AF82-4631-A11A-13DFEE5EA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267532"/>
              </p:ext>
            </p:extLst>
          </p:nvPr>
        </p:nvGraphicFramePr>
        <p:xfrm>
          <a:off x="8063146" y="3199370"/>
          <a:ext cx="3014653" cy="1798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u="sng" dirty="0"/>
                        <a:t>몬스터 위치</a:t>
                      </a:r>
                      <a:r>
                        <a:rPr lang="ko-KR" altLang="en-US" sz="1200" dirty="0"/>
                        <a:t> 기준 우측에서 걸어오거나 상단에서 내려옴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초기 등장 패턴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몬스터 종류에 따른 체력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공격력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방어력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허용 오답 횟수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54829734"/>
                  </a:ext>
                </a:extLst>
              </a:tr>
            </a:tbl>
          </a:graphicData>
        </a:graphic>
      </p:graphicFrame>
      <p:sp>
        <p:nvSpPr>
          <p:cNvPr id="69" name="타원 68">
            <a:extLst>
              <a:ext uri="{FF2B5EF4-FFF2-40B4-BE49-F238E27FC236}">
                <a16:creationId xmlns:a16="http://schemas.microsoft.com/office/drawing/2014/main" id="{BEE4BDFC-83B8-48CD-A6E6-9503661729E7}"/>
              </a:ext>
            </a:extLst>
          </p:cNvPr>
          <p:cNvSpPr/>
          <p:nvPr/>
        </p:nvSpPr>
        <p:spPr>
          <a:xfrm>
            <a:off x="7950221" y="3072408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70" name="연결선: 꺾임 69">
            <a:extLst>
              <a:ext uri="{FF2B5EF4-FFF2-40B4-BE49-F238E27FC236}">
                <a16:creationId xmlns:a16="http://schemas.microsoft.com/office/drawing/2014/main" id="{7A48D8E8-B4CF-43D3-B140-93DE72F4C00D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13993" y="608016"/>
            <a:ext cx="2746311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E75E6E7-C252-49E8-AB3C-DA359AD83B88}"/>
              </a:ext>
            </a:extLst>
          </p:cNvPr>
          <p:cNvSpPr/>
          <p:nvPr/>
        </p:nvSpPr>
        <p:spPr>
          <a:xfrm>
            <a:off x="5073716" y="381396"/>
            <a:ext cx="1364406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미니상태창</a:t>
            </a:r>
            <a:endParaRPr lang="en-US" altLang="ko-KR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3EF139B-4BE3-4A7E-8A47-86E94C0D34C0}"/>
              </a:ext>
            </a:extLst>
          </p:cNvPr>
          <p:cNvSpPr/>
          <p:nvPr/>
        </p:nvSpPr>
        <p:spPr>
          <a:xfrm>
            <a:off x="4948180" y="2606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76" name="연결선: 꺾임 75">
            <a:extLst>
              <a:ext uri="{FF2B5EF4-FFF2-40B4-BE49-F238E27FC236}">
                <a16:creationId xmlns:a16="http://schemas.microsoft.com/office/drawing/2014/main" id="{B6664141-AB91-46F2-8339-853D0F2B7A79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3896424" y="2054416"/>
            <a:ext cx="1270652" cy="7702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203CA225-AB60-4B16-B9ED-2316D77B4EDF}"/>
              </a:ext>
            </a:extLst>
          </p:cNvPr>
          <p:cNvSpPr/>
          <p:nvPr/>
        </p:nvSpPr>
        <p:spPr>
          <a:xfrm>
            <a:off x="5167076" y="2598005"/>
            <a:ext cx="922344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몬스터</a:t>
            </a:r>
            <a:endParaRPr lang="en-US" altLang="ko-KR" dirty="0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C08BCC89-5EAF-4A7C-BF53-B3B75BA84103}"/>
              </a:ext>
            </a:extLst>
          </p:cNvPr>
          <p:cNvSpPr/>
          <p:nvPr/>
        </p:nvSpPr>
        <p:spPr>
          <a:xfrm>
            <a:off x="5041540" y="2477302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435A4333-EB6E-44BC-A005-9BF92BD77517}"/>
              </a:ext>
            </a:extLst>
          </p:cNvPr>
          <p:cNvGrpSpPr/>
          <p:nvPr/>
        </p:nvGrpSpPr>
        <p:grpSpPr>
          <a:xfrm>
            <a:off x="10490670" y="5293609"/>
            <a:ext cx="625765" cy="1215258"/>
            <a:chOff x="5880879" y="4279304"/>
            <a:chExt cx="1057363" cy="2053436"/>
          </a:xfrm>
        </p:grpSpPr>
        <p:pic>
          <p:nvPicPr>
            <p:cNvPr id="88" name="그림 87">
              <a:extLst>
                <a:ext uri="{FF2B5EF4-FFF2-40B4-BE49-F238E27FC236}">
                  <a16:creationId xmlns:a16="http://schemas.microsoft.com/office/drawing/2014/main" id="{79ED910A-1074-481D-9D81-3A4B7D8EC8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9848"/>
            <a:stretch/>
          </p:blipFill>
          <p:spPr>
            <a:xfrm>
              <a:off x="5907232" y="4279304"/>
              <a:ext cx="949820" cy="1465611"/>
            </a:xfrm>
            <a:prstGeom prst="rect">
              <a:avLst/>
            </a:prstGeom>
          </p:spPr>
        </p:pic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1393E3A1-034B-4900-BB66-CD3F40A3DDCA}"/>
                </a:ext>
              </a:extLst>
            </p:cNvPr>
            <p:cNvSpPr txBox="1"/>
            <p:nvPr/>
          </p:nvSpPr>
          <p:spPr>
            <a:xfrm>
              <a:off x="5880879" y="5760681"/>
              <a:ext cx="1057363" cy="572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/>
                <a:t>상단</a:t>
              </a:r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F1E7BD57-F1C7-472A-AA09-372E5526F7A7}"/>
              </a:ext>
            </a:extLst>
          </p:cNvPr>
          <p:cNvGrpSpPr/>
          <p:nvPr/>
        </p:nvGrpSpPr>
        <p:grpSpPr>
          <a:xfrm>
            <a:off x="9684816" y="5284660"/>
            <a:ext cx="625766" cy="1216513"/>
            <a:chOff x="6066092" y="2206647"/>
            <a:chExt cx="1034289" cy="2010697"/>
          </a:xfrm>
        </p:grpSpPr>
        <p:pic>
          <p:nvPicPr>
            <p:cNvPr id="91" name="그림 90">
              <a:extLst>
                <a:ext uri="{FF2B5EF4-FFF2-40B4-BE49-F238E27FC236}">
                  <a16:creationId xmlns:a16="http://schemas.microsoft.com/office/drawing/2014/main" id="{B419CEC2-7A1D-4045-94F0-3BDAD740F4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67446"/>
            <a:stretch/>
          </p:blipFill>
          <p:spPr>
            <a:xfrm>
              <a:off x="6221418" y="2206647"/>
              <a:ext cx="761254" cy="1476558"/>
            </a:xfrm>
            <a:prstGeom prst="rect">
              <a:avLst/>
            </a:prstGeom>
          </p:spPr>
        </p:pic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C00F51-FEC4-47E4-8D59-C5DAFFE3ABB9}"/>
                </a:ext>
              </a:extLst>
            </p:cNvPr>
            <p:cNvSpPr txBox="1"/>
            <p:nvPr/>
          </p:nvSpPr>
          <p:spPr>
            <a:xfrm>
              <a:off x="6066092" y="3683205"/>
              <a:ext cx="1034289" cy="534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/>
                <a:t>우측</a:t>
              </a: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361CB6CD-B8B0-4997-B069-27ECFC6EF263}"/>
              </a:ext>
            </a:extLst>
          </p:cNvPr>
          <p:cNvGrpSpPr/>
          <p:nvPr/>
        </p:nvGrpSpPr>
        <p:grpSpPr>
          <a:xfrm>
            <a:off x="8063146" y="5284660"/>
            <a:ext cx="1441582" cy="1204938"/>
            <a:chOff x="4630704" y="2225780"/>
            <a:chExt cx="2382700" cy="1991566"/>
          </a:xfrm>
        </p:grpSpPr>
        <p:pic>
          <p:nvPicPr>
            <p:cNvPr id="97" name="그림 96">
              <a:extLst>
                <a:ext uri="{FF2B5EF4-FFF2-40B4-BE49-F238E27FC236}">
                  <a16:creationId xmlns:a16="http://schemas.microsoft.com/office/drawing/2014/main" id="{40DA91F4-501C-47AE-ABA7-DBDCAF20E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44284" y="2225780"/>
              <a:ext cx="2338386" cy="1438292"/>
            </a:xfrm>
            <a:prstGeom prst="rect">
              <a:avLst/>
            </a:prstGeom>
          </p:spPr>
        </p:pic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A21A577-4799-4CFF-ADD4-C823EFE73239}"/>
                </a:ext>
              </a:extLst>
            </p:cNvPr>
            <p:cNvSpPr txBox="1"/>
            <p:nvPr/>
          </p:nvSpPr>
          <p:spPr>
            <a:xfrm>
              <a:off x="4630704" y="3683207"/>
              <a:ext cx="2382700" cy="534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/>
                <a:t>몬스터 위치</a:t>
              </a:r>
            </a:p>
          </p:txBody>
        </p:sp>
      </p:grp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060BD-D77B-FB89-BB37-07E3DE9771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557930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4, 13</a:t>
                      </a:r>
                      <a:endParaRPr lang="ko-KR" dirty="0"/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4429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258" y="1009651"/>
            <a:ext cx="2439711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898793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000973"/>
              </p:ext>
            </p:extLst>
          </p:nvPr>
        </p:nvGraphicFramePr>
        <p:xfrm>
          <a:off x="8063146" y="1828807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캐릭터가 플레이어 위치에 도달 시  </a:t>
                      </a:r>
                      <a:r>
                        <a:rPr lang="en-US" altLang="ko-KR" sz="1200" dirty="0"/>
                        <a:t>“</a:t>
                      </a:r>
                      <a:r>
                        <a:rPr lang="ko-KR" altLang="en-US" sz="1200" dirty="0"/>
                        <a:t>몬스터 등장</a:t>
                      </a:r>
                      <a:r>
                        <a:rPr lang="en-US" altLang="ko-KR" sz="1200" dirty="0"/>
                        <a:t>!?!”</a:t>
                      </a:r>
                      <a:r>
                        <a:rPr lang="ko-KR" altLang="en-US" sz="1200" dirty="0"/>
                        <a:t>으로 변경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853523" y="317358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1409723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메시지 박스</a:t>
            </a:r>
            <a:endParaRPr lang="ko-KR" altLang="en-US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8" name="표 19">
            <a:extLst>
              <a:ext uri="{FF2B5EF4-FFF2-40B4-BE49-F238E27FC236}">
                <a16:creationId xmlns:a16="http://schemas.microsoft.com/office/drawing/2014/main" id="{F6835C4E-AF82-4631-A11A-13DFEE5EA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164723"/>
              </p:ext>
            </p:extLst>
          </p:nvPr>
        </p:nvGraphicFramePr>
        <p:xfrm>
          <a:off x="8063146" y="3012546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 타이머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캐릭터가 플레이어 위치에 도달 시 스테이지 대기시간으로 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대기시간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54829734"/>
                  </a:ext>
                </a:extLst>
              </a:tr>
            </a:tbl>
          </a:graphicData>
        </a:graphic>
      </p:graphicFrame>
      <p:sp>
        <p:nvSpPr>
          <p:cNvPr id="69" name="타원 68">
            <a:extLst>
              <a:ext uri="{FF2B5EF4-FFF2-40B4-BE49-F238E27FC236}">
                <a16:creationId xmlns:a16="http://schemas.microsoft.com/office/drawing/2014/main" id="{BEE4BDFC-83B8-48CD-A6E6-9503661729E7}"/>
              </a:ext>
            </a:extLst>
          </p:cNvPr>
          <p:cNvSpPr/>
          <p:nvPr/>
        </p:nvSpPr>
        <p:spPr>
          <a:xfrm>
            <a:off x="7950221" y="288558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E1363D92-2199-4E53-AF1B-70332BF646EA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03C18FD-F108-4F54-8C4E-4BBFACAE53D2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737062FB-11AA-477E-AC77-8A88B546529E}"/>
              </a:ext>
            </a:extLst>
          </p:cNvPr>
          <p:cNvCxnSpPr>
            <a:cxnSpLocks/>
            <a:stCxn id="80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CF75E837-482D-4981-970E-AA8884D4AF79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4493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34" y="1009651"/>
            <a:ext cx="2434359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784916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234094"/>
              </p:ext>
            </p:extLst>
          </p:nvPr>
        </p:nvGraphicFramePr>
        <p:xfrm>
          <a:off x="8063146" y="1828807"/>
          <a:ext cx="3014653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 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몬스터가 몬스터 위치에 도달하면 활성화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몬스터 종류에 따른 이름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공격력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방어력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허용 실패 횟수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체력</a:t>
                      </a:r>
                      <a:r>
                        <a:rPr lang="en-US" altLang="ko-KR" sz="1200" dirty="0"/>
                        <a:t>(0~1)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30114458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70" name="연결선: 꺾임 69">
            <a:extLst>
              <a:ext uri="{FF2B5EF4-FFF2-40B4-BE49-F238E27FC236}">
                <a16:creationId xmlns:a16="http://schemas.microsoft.com/office/drawing/2014/main" id="{7A48D8E8-B4CF-43D3-B140-93DE72F4C00D}"/>
              </a:ext>
            </a:extLst>
          </p:cNvPr>
          <p:cNvCxnSpPr>
            <a:cxnSpLocks/>
          </p:cNvCxnSpPr>
          <p:nvPr/>
        </p:nvCxnSpPr>
        <p:spPr>
          <a:xfrm rot="10800000">
            <a:off x="3853524" y="1206178"/>
            <a:ext cx="1332316" cy="958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E75E6E7-C252-49E8-AB3C-DA359AD83B88}"/>
              </a:ext>
            </a:extLst>
          </p:cNvPr>
          <p:cNvSpPr/>
          <p:nvPr/>
        </p:nvSpPr>
        <p:spPr>
          <a:xfrm>
            <a:off x="5188436" y="1907992"/>
            <a:ext cx="2126764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몬스터 미니상태창</a:t>
            </a:r>
            <a:endParaRPr lang="en-US" altLang="ko-KR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3EF139B-4BE3-4A7E-8A47-86E94C0D34C0}"/>
              </a:ext>
            </a:extLst>
          </p:cNvPr>
          <p:cNvSpPr/>
          <p:nvPr/>
        </p:nvSpPr>
        <p:spPr>
          <a:xfrm>
            <a:off x="5062900" y="1787289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6F210451-3079-4742-ADAB-F5D0C4D71AFE}"/>
              </a:ext>
            </a:extLst>
          </p:cNvPr>
          <p:cNvCxnSpPr>
            <a:cxnSpLocks/>
          </p:cNvCxnSpPr>
          <p:nvPr/>
        </p:nvCxnSpPr>
        <p:spPr>
          <a:xfrm rot="10800000">
            <a:off x="3853524" y="4059654"/>
            <a:ext cx="1332316" cy="958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67350AC-5424-49E4-A77F-0BDD3B72930E}"/>
              </a:ext>
            </a:extLst>
          </p:cNvPr>
          <p:cNvSpPr/>
          <p:nvPr/>
        </p:nvSpPr>
        <p:spPr>
          <a:xfrm>
            <a:off x="5188436" y="4761468"/>
            <a:ext cx="1184372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카드 구역</a:t>
            </a:r>
            <a:endParaRPr lang="en-US" altLang="ko-KR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70C8082-AA41-4DAB-82EE-16DC110B1D20}"/>
              </a:ext>
            </a:extLst>
          </p:cNvPr>
          <p:cNvSpPr/>
          <p:nvPr/>
        </p:nvSpPr>
        <p:spPr>
          <a:xfrm>
            <a:off x="5062900" y="4640765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6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4" name="표 19">
            <a:extLst>
              <a:ext uri="{FF2B5EF4-FFF2-40B4-BE49-F238E27FC236}">
                <a16:creationId xmlns:a16="http://schemas.microsoft.com/office/drawing/2014/main" id="{ADBA5CC8-5669-4372-8CEF-48A2EB7A26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476806"/>
              </p:ext>
            </p:extLst>
          </p:nvPr>
        </p:nvGraphicFramePr>
        <p:xfrm>
          <a:off x="8063146" y="3468592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카드 구역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초 뒤 조건 체크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카드가 없으면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6</a:t>
                      </a:r>
                      <a:r>
                        <a:rPr lang="ko-KR" altLang="en-US" sz="1200" dirty="0"/>
                        <a:t>으로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카드가 있으면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7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현재 카드 개수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30114458"/>
                  </a:ext>
                </a:extLst>
              </a:tr>
            </a:tbl>
          </a:graphicData>
        </a:graphic>
      </p:graphicFrame>
      <p:sp>
        <p:nvSpPr>
          <p:cNvPr id="35" name="타원 34">
            <a:extLst>
              <a:ext uri="{FF2B5EF4-FFF2-40B4-BE49-F238E27FC236}">
                <a16:creationId xmlns:a16="http://schemas.microsoft.com/office/drawing/2014/main" id="{4DA19428-966D-4479-8B97-6C61BE9BC574}"/>
              </a:ext>
            </a:extLst>
          </p:cNvPr>
          <p:cNvSpPr/>
          <p:nvPr/>
        </p:nvSpPr>
        <p:spPr>
          <a:xfrm>
            <a:off x="7950221" y="334163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6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7944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258" y="1018113"/>
            <a:ext cx="2439711" cy="4312188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976833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6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4927847" y="4699946"/>
            <a:ext cx="1180848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카드 구역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>
            <a:off x="3464991" y="4424279"/>
            <a:ext cx="1462856" cy="502285"/>
          </a:xfrm>
          <a:prstGeom prst="bentConnector3">
            <a:avLst>
              <a:gd name="adj1" fmla="val 50000"/>
            </a:avLst>
          </a:prstGeom>
          <a:ln>
            <a:solidFill>
              <a:srgbClr val="A1D68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4809017" y="458502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367198"/>
              </p:ext>
            </p:extLst>
          </p:nvPr>
        </p:nvGraphicFramePr>
        <p:xfrm>
          <a:off x="8063146" y="1828807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 구역에 카드가 모두 배치될 때까지 유지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853523" y="317358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1409723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메시지 박스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6" name="표 19">
            <a:extLst>
              <a:ext uri="{FF2B5EF4-FFF2-40B4-BE49-F238E27FC236}">
                <a16:creationId xmlns:a16="http://schemas.microsoft.com/office/drawing/2014/main" id="{7F9A3092-F6C9-42D1-92E5-C3A1F881A4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293267"/>
              </p:ext>
            </p:extLst>
          </p:nvPr>
        </p:nvGraphicFramePr>
        <p:xfrm>
          <a:off x="8063146" y="2842246"/>
          <a:ext cx="3014653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카드 구역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0.1</a:t>
                      </a:r>
                      <a:r>
                        <a:rPr lang="ko-KR" altLang="en-US" sz="1200" dirty="0"/>
                        <a:t>초마다 뒷면으로 카드 한 장 씩 구역에 추가됨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스테이지 별 맞출 카드 수만큼 카드 배치됨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카드는 짝을 지어 순서를 섞어 배치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이미 배치된 것과 동일한 종류의 카드는 배치하지 않음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카드가 모두 배치되면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7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맞출 카드 수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 종류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280533473"/>
                  </a:ext>
                </a:extLst>
              </a:tr>
            </a:tbl>
          </a:graphicData>
        </a:graphic>
      </p:graphicFrame>
      <p:sp>
        <p:nvSpPr>
          <p:cNvPr id="67" name="타원 66">
            <a:extLst>
              <a:ext uri="{FF2B5EF4-FFF2-40B4-BE49-F238E27FC236}">
                <a16:creationId xmlns:a16="http://schemas.microsoft.com/office/drawing/2014/main" id="{41673868-8EEC-4917-A6CD-6F38107BA2B2}"/>
              </a:ext>
            </a:extLst>
          </p:cNvPr>
          <p:cNvSpPr/>
          <p:nvPr/>
        </p:nvSpPr>
        <p:spPr>
          <a:xfrm>
            <a:off x="7950221" y="271528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1065111-BB8E-D061-3985-5F50F8D36B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089150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5, 11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655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258" y="1018113"/>
            <a:ext cx="2444498" cy="4320650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57457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7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399107"/>
              </p:ext>
            </p:extLst>
          </p:nvPr>
        </p:nvGraphicFramePr>
        <p:xfrm>
          <a:off x="8063146" y="1828807"/>
          <a:ext cx="3014653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텍스트가 우측에서 나타나서 화면 가운데에서 </a:t>
                      </a:r>
                      <a:r>
                        <a:rPr lang="ko-KR" altLang="en-US" sz="1200" dirty="0" err="1"/>
                        <a:t>느려짐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좌표는 </a:t>
                      </a:r>
                      <a:r>
                        <a:rPr lang="ko-KR" altLang="en-US" sz="1200" dirty="0" err="1"/>
                        <a:t>보간하여</a:t>
                      </a:r>
                      <a:r>
                        <a:rPr lang="ko-KR" altLang="en-US" sz="1200" dirty="0"/>
                        <a:t> 구함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가운데를 조금 넘고 거의 멈췄을 때 박스 숨기고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8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853523" y="317358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1409723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메시지 박스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8E70C9A-E688-3E82-F1AC-E6386F220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472687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2267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425" y="1011362"/>
            <a:ext cx="2430916" cy="4325689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487524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8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582955" y="3172409"/>
            <a:ext cx="1208506" cy="6423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648407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카드</a:t>
            </a:r>
            <a:endParaRPr lang="ko-KR" altLang="en-US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18" name="표 19">
            <a:extLst>
              <a:ext uri="{FF2B5EF4-FFF2-40B4-BE49-F238E27FC236}">
                <a16:creationId xmlns:a16="http://schemas.microsoft.com/office/drawing/2014/main" id="{677AC76F-030E-4982-85DF-AE1CB0301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4057078"/>
              </p:ext>
            </p:extLst>
          </p:nvPr>
        </p:nvGraphicFramePr>
        <p:xfrm>
          <a:off x="8069053" y="1815302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카드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클릭 시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9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53F1BA1-79DC-8271-9898-435FB83AB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004957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7, 11, 12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4069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927D0-0E21-6ACB-A4E6-AD8708B7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EF077770-B510-F83D-74C5-F5119A57005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E253B472-2F91-6F7D-37F5-CF15D98928EF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5E2BDA-ED18-3C03-A958-4648BDA580F2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92B10CE-1308-FC12-4B3D-A3EA6D5F8D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34970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8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4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DBD663-E9BB-1731-2868-C1423D255FAA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770CED0-41DB-2CEB-3ABB-EBD7B5870F45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1" name="표 19">
            <a:extLst>
              <a:ext uri="{FF2B5EF4-FFF2-40B4-BE49-F238E27FC236}">
                <a16:creationId xmlns:a16="http://schemas.microsoft.com/office/drawing/2014/main" id="{4E8F95D0-D5BC-A818-0ED7-F38060664652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1818465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 타이머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감소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</a:t>
                      </a:r>
                      <a:r>
                        <a:rPr lang="ko-KR" altLang="en-US" sz="1200" dirty="0"/>
                        <a:t>이 되면 몬스터가 공격한 후 스테이지 별 대기시간을 대입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2" name="타원 21">
            <a:extLst>
              <a:ext uri="{FF2B5EF4-FFF2-40B4-BE49-F238E27FC236}">
                <a16:creationId xmlns:a16="http://schemas.microsoft.com/office/drawing/2014/main" id="{1160CC83-75CC-4F75-3E17-136A481C5F32}"/>
              </a:ext>
            </a:extLst>
          </p:cNvPr>
          <p:cNvSpPr/>
          <p:nvPr/>
        </p:nvSpPr>
        <p:spPr>
          <a:xfrm>
            <a:off x="7956127" y="170803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A9CDBFD-C487-AB98-DDF0-FF906D9AB5D0}"/>
              </a:ext>
            </a:extLst>
          </p:cNvPr>
          <p:cNvSpPr/>
          <p:nvPr/>
        </p:nvSpPr>
        <p:spPr>
          <a:xfrm>
            <a:off x="5073716" y="381396"/>
            <a:ext cx="1364406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미니상태창</a:t>
            </a:r>
            <a:endParaRPr lang="en-US" altLang="ko-KR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10D25001-FC66-128F-776D-924B63D2DEB1}"/>
              </a:ext>
            </a:extLst>
          </p:cNvPr>
          <p:cNvSpPr/>
          <p:nvPr/>
        </p:nvSpPr>
        <p:spPr>
          <a:xfrm>
            <a:off x="4948180" y="2606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6" name="표 19">
            <a:extLst>
              <a:ext uri="{FF2B5EF4-FFF2-40B4-BE49-F238E27FC236}">
                <a16:creationId xmlns:a16="http://schemas.microsoft.com/office/drawing/2014/main" id="{411F29B9-A87A-A1E5-C8FF-6FD78CDF4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0426487"/>
              </p:ext>
            </p:extLst>
          </p:nvPr>
        </p:nvGraphicFramePr>
        <p:xfrm>
          <a:off x="8063147" y="3180719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플레이어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캐릭터의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상태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출력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체력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업데이트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7" name="타원 26">
            <a:extLst>
              <a:ext uri="{FF2B5EF4-FFF2-40B4-BE49-F238E27FC236}">
                <a16:creationId xmlns:a16="http://schemas.microsoft.com/office/drawing/2014/main" id="{84BD4B07-9A22-B566-57CD-5B08FE24B50A}"/>
              </a:ext>
            </a:extLst>
          </p:cNvPr>
          <p:cNvSpPr/>
          <p:nvPr/>
        </p:nvSpPr>
        <p:spPr>
          <a:xfrm>
            <a:off x="7950221" y="307028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896911-5955-ABEC-175F-2E59CE316F26}"/>
              </a:ext>
            </a:extLst>
          </p:cNvPr>
          <p:cNvSpPr/>
          <p:nvPr/>
        </p:nvSpPr>
        <p:spPr>
          <a:xfrm>
            <a:off x="5137215" y="1450313"/>
            <a:ext cx="941073" cy="46382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몬스터</a:t>
            </a:r>
            <a:endParaRPr lang="en-US" altLang="ko-KR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D27CE87-9713-0B75-C3A4-C83F79D656C9}"/>
              </a:ext>
            </a:extLst>
          </p:cNvPr>
          <p:cNvSpPr/>
          <p:nvPr/>
        </p:nvSpPr>
        <p:spPr>
          <a:xfrm>
            <a:off x="5022262" y="1329610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A4119E5-ED2C-6F26-FC11-16173AF5CC03}"/>
              </a:ext>
            </a:extLst>
          </p:cNvPr>
          <p:cNvSpPr/>
          <p:nvPr/>
        </p:nvSpPr>
        <p:spPr>
          <a:xfrm>
            <a:off x="5295965" y="3238896"/>
            <a:ext cx="1882989" cy="506154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플레이어 캐릭터</a:t>
            </a:r>
            <a:endParaRPr lang="ko-KR" altLang="en-US" dirty="0">
              <a:ea typeface="맑은 고딕"/>
              <a:cs typeface="Arial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D63DB41D-5C47-6143-C0E9-9F96EDBB98C9}"/>
              </a:ext>
            </a:extLst>
          </p:cNvPr>
          <p:cNvSpPr/>
          <p:nvPr/>
        </p:nvSpPr>
        <p:spPr>
          <a:xfrm>
            <a:off x="5181012" y="31181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pic>
        <p:nvPicPr>
          <p:cNvPr id="3" name="그림 2" descr="텍스트, 스크린샷, 계산기, 경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C50F00-2DA7-BBD8-AE55-0DC11DBAC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425" y="1011362"/>
            <a:ext cx="2430916" cy="4325689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FF8E5F5-77D1-B675-8621-9896C718DA29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80555FAC-398D-297E-6F2F-2198C4EB751B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13993" y="608016"/>
            <a:ext cx="2746311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817AD022-0689-6D87-0AAB-E3BE1FB0D87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865DF0B5-3D73-0C38-C1A8-DDDDAFC2F6B8}"/>
              </a:ext>
            </a:extLst>
          </p:cNvPr>
          <p:cNvCxnSpPr>
            <a:cxnSpLocks/>
          </p:cNvCxnSpPr>
          <p:nvPr/>
        </p:nvCxnSpPr>
        <p:spPr>
          <a:xfrm flipH="1" flipV="1">
            <a:off x="1901242" y="2233022"/>
            <a:ext cx="3402479" cy="1243075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8DC6C59E-06AB-2EE0-3F4B-795A70DD65E1}"/>
              </a:ext>
            </a:extLst>
          </p:cNvPr>
          <p:cNvCxnSpPr>
            <a:cxnSpLocks/>
          </p:cNvCxnSpPr>
          <p:nvPr/>
        </p:nvCxnSpPr>
        <p:spPr>
          <a:xfrm flipH="1">
            <a:off x="3636908" y="1687514"/>
            <a:ext cx="1508062" cy="450257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19">
            <a:extLst>
              <a:ext uri="{FF2B5EF4-FFF2-40B4-BE49-F238E27FC236}">
                <a16:creationId xmlns:a16="http://schemas.microsoft.com/office/drawing/2014/main" id="{DAAF6B94-5976-64BD-8C77-752A547E1C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251859"/>
              </p:ext>
            </p:extLst>
          </p:nvPr>
        </p:nvGraphicFramePr>
        <p:xfrm>
          <a:off x="8063146" y="419284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10" name="타원 9">
            <a:extLst>
              <a:ext uri="{FF2B5EF4-FFF2-40B4-BE49-F238E27FC236}">
                <a16:creationId xmlns:a16="http://schemas.microsoft.com/office/drawing/2014/main" id="{CD0EBA72-C2B6-7A28-FEA6-3616FF495CC6}"/>
              </a:ext>
            </a:extLst>
          </p:cNvPr>
          <p:cNvSpPr/>
          <p:nvPr/>
        </p:nvSpPr>
        <p:spPr>
          <a:xfrm>
            <a:off x="7950220" y="40824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graphicFrame>
        <p:nvGraphicFramePr>
          <p:cNvPr id="16" name="표 19">
            <a:extLst>
              <a:ext uri="{FF2B5EF4-FFF2-40B4-BE49-F238E27FC236}">
                <a16:creationId xmlns:a16="http://schemas.microsoft.com/office/drawing/2014/main" id="{2E7D1978-83C3-F7A4-8E63-788488B685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9122427"/>
              </p:ext>
            </p:extLst>
          </p:nvPr>
        </p:nvGraphicFramePr>
        <p:xfrm>
          <a:off x="8063146" y="501834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플레이어 캐릭터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이팩트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  <a:endParaRPr lang="ko-KR" altLang="en-US" dirty="0" err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9" name="타원 28">
            <a:extLst>
              <a:ext uri="{FF2B5EF4-FFF2-40B4-BE49-F238E27FC236}">
                <a16:creationId xmlns:a16="http://schemas.microsoft.com/office/drawing/2014/main" id="{216D538C-24EF-99B6-670F-36AC7192BE5C}"/>
              </a:ext>
            </a:extLst>
          </p:cNvPr>
          <p:cNvSpPr/>
          <p:nvPr/>
        </p:nvSpPr>
        <p:spPr>
          <a:xfrm>
            <a:off x="7950220" y="49079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008647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0EBB7-CB6F-999D-A23F-A450E52A0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1B8AD003-3585-0239-D824-B17E0ABF78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2ADE268C-402B-DAB4-B47A-8BF5708C6CF2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BC7626A-CB27-E709-2DE6-4E898F130E06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B564232-B971-DED5-4B46-EE286DC1E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425" y="1022368"/>
            <a:ext cx="2430916" cy="4303676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B7DC36D9-56A4-E6BD-8126-60820B7F0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106135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9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1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64" name="직사각형 63">
            <a:extLst>
              <a:ext uri="{FF2B5EF4-FFF2-40B4-BE49-F238E27FC236}">
                <a16:creationId xmlns:a16="http://schemas.microsoft.com/office/drawing/2014/main" id="{0B1B4AE0-C7A8-257F-2F79-FE1D4F0AC2DD}"/>
              </a:ext>
            </a:extLst>
          </p:cNvPr>
          <p:cNvSpPr/>
          <p:nvPr/>
        </p:nvSpPr>
        <p:spPr>
          <a:xfrm>
            <a:off x="5453331" y="2211568"/>
            <a:ext cx="1726708" cy="53950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이전 선택 카드</a:t>
            </a:r>
            <a:endParaRPr lang="ko-KR" altLang="en-US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8D1CA37-E43D-8ED5-3234-556F675713FF}"/>
              </a:ext>
            </a:extLst>
          </p:cNvPr>
          <p:cNvSpPr/>
          <p:nvPr/>
        </p:nvSpPr>
        <p:spPr>
          <a:xfrm>
            <a:off x="5340388" y="212714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18" name="표 19">
            <a:extLst>
              <a:ext uri="{FF2B5EF4-FFF2-40B4-BE49-F238E27FC236}">
                <a16:creationId xmlns:a16="http://schemas.microsoft.com/office/drawing/2014/main" id="{69C77009-E403-28FF-1853-A6DDBC2B0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0271"/>
              </p:ext>
            </p:extLst>
          </p:nvPr>
        </p:nvGraphicFramePr>
        <p:xfrm>
          <a:off x="8069053" y="2697298"/>
          <a:ext cx="3014648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56745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이전 선택 카드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 err="1"/>
                        <a:t>Y축을</a:t>
                      </a:r>
                      <a:r>
                        <a:rPr lang="ko-KR" altLang="en-US" sz="1200" dirty="0"/>
                        <a:t> 기준으로 3초 동안 180도 회전.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2" name="타원 21">
            <a:extLst>
              <a:ext uri="{FF2B5EF4-FFF2-40B4-BE49-F238E27FC236}">
                <a16:creationId xmlns:a16="http://schemas.microsoft.com/office/drawing/2014/main" id="{25CC6E37-166E-CA13-CE31-9B9B67B8F121}"/>
              </a:ext>
            </a:extLst>
          </p:cNvPr>
          <p:cNvSpPr/>
          <p:nvPr/>
        </p:nvSpPr>
        <p:spPr>
          <a:xfrm>
            <a:off x="7956127" y="255634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4208334-C2FB-B55D-9DB6-F475F6E2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1614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  <p:cxnSp>
        <p:nvCxnSpPr>
          <p:cNvPr id="5" name="연결선: 꺾임 4">
            <a:extLst>
              <a:ext uri="{FF2B5EF4-FFF2-40B4-BE49-F238E27FC236}">
                <a16:creationId xmlns:a16="http://schemas.microsoft.com/office/drawing/2014/main" id="{4E883E97-CEBA-6818-A22D-9245035A89F4}"/>
              </a:ext>
            </a:extLst>
          </p:cNvPr>
          <p:cNvCxnSpPr>
            <a:cxnSpLocks/>
          </p:cNvCxnSpPr>
          <p:nvPr/>
        </p:nvCxnSpPr>
        <p:spPr>
          <a:xfrm flipH="1">
            <a:off x="1839540" y="2477072"/>
            <a:ext cx="3608952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C7E61369-EAA9-C736-F8EF-844EED7389DB}"/>
              </a:ext>
            </a:extLst>
          </p:cNvPr>
          <p:cNvSpPr/>
          <p:nvPr/>
        </p:nvSpPr>
        <p:spPr>
          <a:xfrm>
            <a:off x="5309557" y="3815489"/>
            <a:ext cx="650944" cy="517090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카드</a:t>
            </a:r>
            <a:endParaRPr lang="ko-KR" altLang="en-US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B9224D7-73C2-B63D-F859-F1C41DF90DB5}"/>
              </a:ext>
            </a:extLst>
          </p:cNvPr>
          <p:cNvSpPr/>
          <p:nvPr/>
        </p:nvSpPr>
        <p:spPr>
          <a:xfrm>
            <a:off x="5196614" y="370865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1</a:t>
            </a: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CEEED877-49CF-2471-7845-48BDD2C3E36D}"/>
              </a:ext>
            </a:extLst>
          </p:cNvPr>
          <p:cNvCxnSpPr>
            <a:cxnSpLocks/>
          </p:cNvCxnSpPr>
          <p:nvPr/>
        </p:nvCxnSpPr>
        <p:spPr>
          <a:xfrm flipH="1" flipV="1">
            <a:off x="1882672" y="3682339"/>
            <a:ext cx="3422047" cy="404996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75E68E97-90B8-7454-67CC-9EA806CEBF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727029"/>
              </p:ext>
            </p:extLst>
          </p:nvPr>
        </p:nvGraphicFramePr>
        <p:xfrm>
          <a:off x="8069053" y="1815302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카드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클릭 시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10</a:t>
                      </a:r>
                      <a:r>
                        <a:rPr lang="ko-KR" altLang="en-US" sz="1200" dirty="0" err="1"/>
                        <a:t>으로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0A2D60C8-DF12-016A-2DF2-5F018E7188C7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34776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7C17C-AC07-F21A-D56F-71CC59FE5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533E8369-AE25-D1D0-672D-A22EF5E455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622AA8F6-7B0D-285D-F18E-CED9C0DFCBBB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73C935B-058A-6B2F-589A-34B4E5B304AB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DD8AF52-8040-A0B0-C90D-FB9620667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834170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4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4BE682-3BDD-3130-9BE9-A55E6A3BA3E4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50042E5-ED0E-32D9-B086-DBB7FAFED0BE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3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graphicFrame>
        <p:nvGraphicFramePr>
          <p:cNvPr id="21" name="표 19">
            <a:extLst>
              <a:ext uri="{FF2B5EF4-FFF2-40B4-BE49-F238E27FC236}">
                <a16:creationId xmlns:a16="http://schemas.microsoft.com/office/drawing/2014/main" id="{78B56E60-EE09-69FA-5C8E-813999C85CB0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1818465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 타이머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감소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</a:t>
                      </a:r>
                      <a:r>
                        <a:rPr lang="ko-KR" altLang="en-US" sz="1200" dirty="0"/>
                        <a:t>이 되면 몬스터가 공격한 후 스테이지 별 대기시간을 대입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2" name="타원 21">
            <a:extLst>
              <a:ext uri="{FF2B5EF4-FFF2-40B4-BE49-F238E27FC236}">
                <a16:creationId xmlns:a16="http://schemas.microsoft.com/office/drawing/2014/main" id="{80F024AB-5E31-82C7-C69B-6FB743669154}"/>
              </a:ext>
            </a:extLst>
          </p:cNvPr>
          <p:cNvSpPr/>
          <p:nvPr/>
        </p:nvSpPr>
        <p:spPr>
          <a:xfrm>
            <a:off x="7956127" y="170803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3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68413F8-3E60-DCC8-23F8-9BE5D5ABA23C}"/>
              </a:ext>
            </a:extLst>
          </p:cNvPr>
          <p:cNvSpPr/>
          <p:nvPr/>
        </p:nvSpPr>
        <p:spPr>
          <a:xfrm>
            <a:off x="5073716" y="381396"/>
            <a:ext cx="1364406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미니상태창</a:t>
            </a:r>
            <a:endParaRPr lang="en-US" altLang="ko-KR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995AD86-9702-B632-62CE-FA39BA188700}"/>
              </a:ext>
            </a:extLst>
          </p:cNvPr>
          <p:cNvSpPr/>
          <p:nvPr/>
        </p:nvSpPr>
        <p:spPr>
          <a:xfrm>
            <a:off x="4948180" y="2606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graphicFrame>
        <p:nvGraphicFramePr>
          <p:cNvPr id="26" name="표 19">
            <a:extLst>
              <a:ext uri="{FF2B5EF4-FFF2-40B4-BE49-F238E27FC236}">
                <a16:creationId xmlns:a16="http://schemas.microsoft.com/office/drawing/2014/main" id="{81F90B19-ABEC-EC93-4EAD-5B952EF1EB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456338"/>
              </p:ext>
            </p:extLst>
          </p:nvPr>
        </p:nvGraphicFramePr>
        <p:xfrm>
          <a:off x="8063147" y="3180719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플레이어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캐릭터의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상태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출력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체력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업데이트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7" name="타원 26">
            <a:extLst>
              <a:ext uri="{FF2B5EF4-FFF2-40B4-BE49-F238E27FC236}">
                <a16:creationId xmlns:a16="http://schemas.microsoft.com/office/drawing/2014/main" id="{85818A1E-1BC7-041F-3E02-4249B3BE9FD1}"/>
              </a:ext>
            </a:extLst>
          </p:cNvPr>
          <p:cNvSpPr/>
          <p:nvPr/>
        </p:nvSpPr>
        <p:spPr>
          <a:xfrm>
            <a:off x="7950221" y="307028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4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436DC1D-7658-BB76-7073-FC333A5BCB5B}"/>
              </a:ext>
            </a:extLst>
          </p:cNvPr>
          <p:cNvSpPr/>
          <p:nvPr/>
        </p:nvSpPr>
        <p:spPr>
          <a:xfrm>
            <a:off x="5137215" y="1450313"/>
            <a:ext cx="941073" cy="46382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몬스터</a:t>
            </a:r>
            <a:endParaRPr lang="en-US" altLang="ko-KR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8B4A50A-2596-6422-7638-86AA6E216464}"/>
              </a:ext>
            </a:extLst>
          </p:cNvPr>
          <p:cNvSpPr/>
          <p:nvPr/>
        </p:nvSpPr>
        <p:spPr>
          <a:xfrm>
            <a:off x="5022262" y="1329610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DB1D2FB-0C95-2FFD-AC8A-CFFEA731F3A5}"/>
              </a:ext>
            </a:extLst>
          </p:cNvPr>
          <p:cNvSpPr/>
          <p:nvPr/>
        </p:nvSpPr>
        <p:spPr>
          <a:xfrm>
            <a:off x="5295965" y="3238896"/>
            <a:ext cx="1882989" cy="506154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플레이어 캐릭터</a:t>
            </a:r>
            <a:endParaRPr lang="ko-KR" altLang="en-US" dirty="0">
              <a:ea typeface="맑은 고딕"/>
              <a:cs typeface="Arial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0EEBD28-1C5B-CA03-C843-79FCCF427D47}"/>
              </a:ext>
            </a:extLst>
          </p:cNvPr>
          <p:cNvSpPr/>
          <p:nvPr/>
        </p:nvSpPr>
        <p:spPr>
          <a:xfrm>
            <a:off x="5181012" y="31181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6</a:t>
            </a:r>
          </a:p>
        </p:txBody>
      </p:sp>
      <p:pic>
        <p:nvPicPr>
          <p:cNvPr id="3" name="그림 2" descr="텍스트, 스크린샷, 경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A53EA4-D503-6B59-ED01-A92BE3D8F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425" y="1022368"/>
            <a:ext cx="2430916" cy="4303676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ADB4B0E-E1A6-39B5-C07D-9473BAAAE1D1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EA0245B9-1127-B2E5-EED1-69D9AC6E94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13993" y="608016"/>
            <a:ext cx="2746311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27918A9-CCDD-74AE-F899-A37733C9CC08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4B3DCCCB-0024-83E4-E0CE-90D4F4A20409}"/>
              </a:ext>
            </a:extLst>
          </p:cNvPr>
          <p:cNvCxnSpPr>
            <a:cxnSpLocks/>
          </p:cNvCxnSpPr>
          <p:nvPr/>
        </p:nvCxnSpPr>
        <p:spPr>
          <a:xfrm flipH="1" flipV="1">
            <a:off x="1901242" y="2233022"/>
            <a:ext cx="3402479" cy="1243075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96650706-7E13-372B-D829-357DD9787530}"/>
              </a:ext>
            </a:extLst>
          </p:cNvPr>
          <p:cNvCxnSpPr>
            <a:cxnSpLocks/>
          </p:cNvCxnSpPr>
          <p:nvPr/>
        </p:nvCxnSpPr>
        <p:spPr>
          <a:xfrm flipH="1">
            <a:off x="3636908" y="1687514"/>
            <a:ext cx="1508062" cy="450257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19">
            <a:extLst>
              <a:ext uri="{FF2B5EF4-FFF2-40B4-BE49-F238E27FC236}">
                <a16:creationId xmlns:a16="http://schemas.microsoft.com/office/drawing/2014/main" id="{8C1AE9FC-24D6-FE85-439D-5642558738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762011"/>
              </p:ext>
            </p:extLst>
          </p:nvPr>
        </p:nvGraphicFramePr>
        <p:xfrm>
          <a:off x="8063146" y="419284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10" name="타원 9">
            <a:extLst>
              <a:ext uri="{FF2B5EF4-FFF2-40B4-BE49-F238E27FC236}">
                <a16:creationId xmlns:a16="http://schemas.microsoft.com/office/drawing/2014/main" id="{DEF07924-7EA9-AE94-0C35-45C2C02A62EE}"/>
              </a:ext>
            </a:extLst>
          </p:cNvPr>
          <p:cNvSpPr/>
          <p:nvPr/>
        </p:nvSpPr>
        <p:spPr>
          <a:xfrm>
            <a:off x="7950220" y="40824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graphicFrame>
        <p:nvGraphicFramePr>
          <p:cNvPr id="16" name="표 19">
            <a:extLst>
              <a:ext uri="{FF2B5EF4-FFF2-40B4-BE49-F238E27FC236}">
                <a16:creationId xmlns:a16="http://schemas.microsoft.com/office/drawing/2014/main" id="{8B2C0FD8-62B1-82F2-E2D9-49D77EDCCC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366454"/>
              </p:ext>
            </p:extLst>
          </p:nvPr>
        </p:nvGraphicFramePr>
        <p:xfrm>
          <a:off x="8063146" y="501834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플레이어 캐릭터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이팩트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  <a:endParaRPr lang="ko-KR" altLang="en-US" dirty="0" err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9" name="타원 28">
            <a:extLst>
              <a:ext uri="{FF2B5EF4-FFF2-40B4-BE49-F238E27FC236}">
                <a16:creationId xmlns:a16="http://schemas.microsoft.com/office/drawing/2014/main" id="{0AB3CF9F-DEF4-BBE0-DC0B-4682B8FB7A17}"/>
              </a:ext>
            </a:extLst>
          </p:cNvPr>
          <p:cNvSpPr/>
          <p:nvPr/>
        </p:nvSpPr>
        <p:spPr>
          <a:xfrm>
            <a:off x="7950220" y="49079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408958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3FF43-A710-90F6-A0BF-20C455334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C6F4FE18-93CC-6DCF-ABDD-4EA0388CEC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4DC9BC2A-D8D4-A3E3-D019-E5F9FF46659D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8522F18-9DE1-CB7A-107C-21293CE54FAB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 descr="스크린샷, 텍스트, PC 게임, 비디오 게임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90DFC3-2EF7-B494-7A82-F00BD093D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8371" y="1022368"/>
            <a:ext cx="2411023" cy="4303676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5A2E5E8D-2888-C9C7-792E-DACD78F2D1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7400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64" name="직사각형 63">
            <a:extLst>
              <a:ext uri="{FF2B5EF4-FFF2-40B4-BE49-F238E27FC236}">
                <a16:creationId xmlns:a16="http://schemas.microsoft.com/office/drawing/2014/main" id="{51E0663B-191E-76BC-B69E-982CAB8420A3}"/>
              </a:ext>
            </a:extLst>
          </p:cNvPr>
          <p:cNvSpPr/>
          <p:nvPr/>
        </p:nvSpPr>
        <p:spPr>
          <a:xfrm>
            <a:off x="5296449" y="2704627"/>
            <a:ext cx="1726708" cy="53950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이전 선택 카드</a:t>
            </a:r>
            <a:endParaRPr lang="ko-KR" altLang="en-US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76FB09E3-C026-A22A-6553-781952EAB372}"/>
              </a:ext>
            </a:extLst>
          </p:cNvPr>
          <p:cNvSpPr/>
          <p:nvPr/>
        </p:nvSpPr>
        <p:spPr>
          <a:xfrm>
            <a:off x="5183506" y="262020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7850B86-E90A-3879-B63D-441B91A652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698992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  <p:cxnSp>
        <p:nvCxnSpPr>
          <p:cNvPr id="5" name="연결선: 꺾임 4">
            <a:extLst>
              <a:ext uri="{FF2B5EF4-FFF2-40B4-BE49-F238E27FC236}">
                <a16:creationId xmlns:a16="http://schemas.microsoft.com/office/drawing/2014/main" id="{890670C8-E430-6D94-7237-AFDC94B9F201}"/>
              </a:ext>
            </a:extLst>
          </p:cNvPr>
          <p:cNvCxnSpPr>
            <a:cxnSpLocks/>
          </p:cNvCxnSpPr>
          <p:nvPr/>
        </p:nvCxnSpPr>
        <p:spPr>
          <a:xfrm flipH="1">
            <a:off x="1827700" y="2912622"/>
            <a:ext cx="3463910" cy="714745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19">
            <a:extLst>
              <a:ext uri="{FF2B5EF4-FFF2-40B4-BE49-F238E27FC236}">
                <a16:creationId xmlns:a16="http://schemas.microsoft.com/office/drawing/2014/main" id="{F3939241-AD34-5E17-2126-1D0FC3146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290669"/>
              </p:ext>
            </p:extLst>
          </p:nvPr>
        </p:nvGraphicFramePr>
        <p:xfrm>
          <a:off x="8063146" y="1828807"/>
          <a:ext cx="3014653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이전 선택 카드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Y축을</a:t>
                      </a:r>
                      <a:r>
                        <a:rPr 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기준으로 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r>
                        <a:rPr 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초 동안 180도 회전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endParaRPr lang="ko-KR" altLang="en-US" sz="12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회전이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끝났을</a:t>
                      </a:r>
                      <a:r>
                        <a:rPr lang="en-US" altLang="ko-KR" sz="1200" dirty="0"/>
                        <a:t> 때 </a:t>
                      </a:r>
                      <a:r>
                        <a:rPr lang="en-US" altLang="ko-KR" sz="1200" dirty="0" err="1"/>
                        <a:t>카드의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짝이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맞으면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u="sng" dirty="0" err="1"/>
                        <a:t>깊이</a:t>
                      </a:r>
                      <a:r>
                        <a:rPr lang="en-US" altLang="ko-KR" sz="1200" u="sng" dirty="0"/>
                        <a:t> 11</a:t>
                      </a:r>
                      <a:r>
                        <a:rPr lang="en-US" altLang="ko-KR" sz="1200" dirty="0"/>
                        <a:t>로. </a:t>
                      </a:r>
                      <a:r>
                        <a:rPr lang="en-US" altLang="ko-KR" sz="1200" dirty="0" err="1"/>
                        <a:t>종류가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다르면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u="sng" dirty="0" err="1"/>
                        <a:t>깊이</a:t>
                      </a:r>
                      <a:r>
                        <a:rPr lang="en-US" altLang="ko-KR" sz="1200" u="sng" dirty="0"/>
                        <a:t> 12</a:t>
                      </a:r>
                      <a:r>
                        <a:rPr lang="en-US" altLang="ko-KR" sz="1200" dirty="0"/>
                        <a:t>로.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D797A356-0848-ECA9-5768-EB7ADC8DDCF8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47340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1A7F6-DCE1-C610-1644-97D9E4CC2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147CA39F-C3DC-3FDF-E348-056F97F53B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5CF23D31-839F-F0CD-EDE6-1567FD1AEDEB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3666493-B47C-3424-E215-DA03D23D9721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8C0E186B-2782-2008-274B-F952DB6C82ED}"/>
              </a:ext>
            </a:extLst>
          </p:cNvPr>
          <p:cNvGraphicFramePr>
            <a:graphicFrameLocks noGrp="1"/>
          </p:cNvGraphicFramePr>
          <p:nvPr/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10</a:t>
                      </a:r>
                      <a:endParaRPr lang="ko-KR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4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9FB140-E8FD-9AB1-78DD-E629EEA2ECC8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E8D68365-A958-D90A-5342-BD03A973770B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1" name="표 19">
            <a:extLst>
              <a:ext uri="{FF2B5EF4-FFF2-40B4-BE49-F238E27FC236}">
                <a16:creationId xmlns:a16="http://schemas.microsoft.com/office/drawing/2014/main" id="{107A50E9-B36A-D52E-05BC-56F68324AE38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1818465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 타이머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감소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</a:t>
                      </a:r>
                      <a:r>
                        <a:rPr lang="ko-KR" altLang="en-US" sz="1200" dirty="0"/>
                        <a:t>이 되면 몬스터가 공격한 후 스테이지 별 대기시간을 대입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2" name="타원 21">
            <a:extLst>
              <a:ext uri="{FF2B5EF4-FFF2-40B4-BE49-F238E27FC236}">
                <a16:creationId xmlns:a16="http://schemas.microsoft.com/office/drawing/2014/main" id="{B4D0700E-8482-9F79-8F94-C9ECF875FCE5}"/>
              </a:ext>
            </a:extLst>
          </p:cNvPr>
          <p:cNvSpPr/>
          <p:nvPr/>
        </p:nvSpPr>
        <p:spPr>
          <a:xfrm>
            <a:off x="7956127" y="170803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21E6DCE-67B2-C280-A7C2-6E8038AB8C4A}"/>
              </a:ext>
            </a:extLst>
          </p:cNvPr>
          <p:cNvSpPr/>
          <p:nvPr/>
        </p:nvSpPr>
        <p:spPr>
          <a:xfrm>
            <a:off x="5073716" y="381396"/>
            <a:ext cx="1364406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미니상태창</a:t>
            </a:r>
            <a:endParaRPr lang="en-US" altLang="ko-KR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D94350-B374-F829-A64E-80451F15C586}"/>
              </a:ext>
            </a:extLst>
          </p:cNvPr>
          <p:cNvSpPr/>
          <p:nvPr/>
        </p:nvSpPr>
        <p:spPr>
          <a:xfrm>
            <a:off x="4948180" y="2606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6" name="표 19">
            <a:extLst>
              <a:ext uri="{FF2B5EF4-FFF2-40B4-BE49-F238E27FC236}">
                <a16:creationId xmlns:a16="http://schemas.microsoft.com/office/drawing/2014/main" id="{3B0B152F-5A93-60EA-8B7E-B7C4EF1FCD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037701"/>
              </p:ext>
            </p:extLst>
          </p:nvPr>
        </p:nvGraphicFramePr>
        <p:xfrm>
          <a:off x="8063147" y="3180719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플레이어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캐릭터의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상태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출력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체력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업데이트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7" name="타원 26">
            <a:extLst>
              <a:ext uri="{FF2B5EF4-FFF2-40B4-BE49-F238E27FC236}">
                <a16:creationId xmlns:a16="http://schemas.microsoft.com/office/drawing/2014/main" id="{FC5C71FC-B66E-7A45-55B0-221A4BC82F91}"/>
              </a:ext>
            </a:extLst>
          </p:cNvPr>
          <p:cNvSpPr/>
          <p:nvPr/>
        </p:nvSpPr>
        <p:spPr>
          <a:xfrm>
            <a:off x="7950221" y="307028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6D0106A-1BC8-0153-347B-2F86D9E97831}"/>
              </a:ext>
            </a:extLst>
          </p:cNvPr>
          <p:cNvSpPr/>
          <p:nvPr/>
        </p:nvSpPr>
        <p:spPr>
          <a:xfrm>
            <a:off x="5137215" y="1450313"/>
            <a:ext cx="941073" cy="46382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몬스터</a:t>
            </a:r>
            <a:endParaRPr lang="en-US" altLang="ko-KR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327F44D-90AA-722D-39D0-B8E4D0555C78}"/>
              </a:ext>
            </a:extLst>
          </p:cNvPr>
          <p:cNvSpPr/>
          <p:nvPr/>
        </p:nvSpPr>
        <p:spPr>
          <a:xfrm>
            <a:off x="5022262" y="1329610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graphicFrame>
        <p:nvGraphicFramePr>
          <p:cNvPr id="18" name="표 19">
            <a:extLst>
              <a:ext uri="{FF2B5EF4-FFF2-40B4-BE49-F238E27FC236}">
                <a16:creationId xmlns:a16="http://schemas.microsoft.com/office/drawing/2014/main" id="{E38749B5-5B07-E7B2-4548-4743482BD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454199"/>
              </p:ext>
            </p:extLst>
          </p:nvPr>
        </p:nvGraphicFramePr>
        <p:xfrm>
          <a:off x="8063146" y="419284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19" name="타원 18">
            <a:extLst>
              <a:ext uri="{FF2B5EF4-FFF2-40B4-BE49-F238E27FC236}">
                <a16:creationId xmlns:a16="http://schemas.microsoft.com/office/drawing/2014/main" id="{3D094B86-3A03-DEEE-7206-09FD288E1253}"/>
              </a:ext>
            </a:extLst>
          </p:cNvPr>
          <p:cNvSpPr/>
          <p:nvPr/>
        </p:nvSpPr>
        <p:spPr>
          <a:xfrm>
            <a:off x="7950220" y="40824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4636AF-F427-2BBD-BE4E-58DD58941483}"/>
              </a:ext>
            </a:extLst>
          </p:cNvPr>
          <p:cNvSpPr/>
          <p:nvPr/>
        </p:nvSpPr>
        <p:spPr>
          <a:xfrm>
            <a:off x="5295965" y="3238896"/>
            <a:ext cx="1882989" cy="506154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플레이어 캐릭터</a:t>
            </a:r>
            <a:endParaRPr lang="ko-KR" altLang="en-US" dirty="0">
              <a:ea typeface="맑은 고딕"/>
              <a:cs typeface="Arial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8AA6A6A-C985-FFE8-17EA-52B38106AD83}"/>
              </a:ext>
            </a:extLst>
          </p:cNvPr>
          <p:cNvSpPr/>
          <p:nvPr/>
        </p:nvSpPr>
        <p:spPr>
          <a:xfrm>
            <a:off x="5181012" y="31181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graphicFrame>
        <p:nvGraphicFramePr>
          <p:cNvPr id="36" name="표 19">
            <a:extLst>
              <a:ext uri="{FF2B5EF4-FFF2-40B4-BE49-F238E27FC236}">
                <a16:creationId xmlns:a16="http://schemas.microsoft.com/office/drawing/2014/main" id="{8320E8B8-638D-CE98-4348-6BFA0B592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806420"/>
              </p:ext>
            </p:extLst>
          </p:nvPr>
        </p:nvGraphicFramePr>
        <p:xfrm>
          <a:off x="8063146" y="501834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플레이어 캐릭터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이팩트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  <a:endParaRPr lang="ko-KR" altLang="en-US" dirty="0" err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37" name="타원 36">
            <a:extLst>
              <a:ext uri="{FF2B5EF4-FFF2-40B4-BE49-F238E27FC236}">
                <a16:creationId xmlns:a16="http://schemas.microsoft.com/office/drawing/2014/main" id="{3BF4D8B6-FAEE-1FF0-93C4-AA94F4497CF8}"/>
              </a:ext>
            </a:extLst>
          </p:cNvPr>
          <p:cNvSpPr/>
          <p:nvPr/>
        </p:nvSpPr>
        <p:spPr>
          <a:xfrm>
            <a:off x="7950220" y="49079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pic>
        <p:nvPicPr>
          <p:cNvPr id="4" name="그림 3" descr="텍스트, 스크린샷, PC 게임, 비디오 게임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6AFBB0-C56E-6D82-40BD-8E8788ADA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8371" y="1022368"/>
            <a:ext cx="2411023" cy="4303676"/>
          </a:xfrm>
          <a:prstGeom prst="rect">
            <a:avLst/>
          </a:prstGeom>
        </p:spPr>
      </p:pic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07256D2-E899-9A90-2B5B-7F298B0D2596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F025D829-45B5-A288-2076-EFAA2960AA82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13993" y="608016"/>
            <a:ext cx="2746311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E43D4B53-4992-C2AC-68F1-AF17BED3C96D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7AE47C1F-2CB1-D654-36B1-B4F767A5EEBF}"/>
              </a:ext>
            </a:extLst>
          </p:cNvPr>
          <p:cNvCxnSpPr>
            <a:cxnSpLocks/>
          </p:cNvCxnSpPr>
          <p:nvPr/>
        </p:nvCxnSpPr>
        <p:spPr>
          <a:xfrm flipH="1" flipV="1">
            <a:off x="1901242" y="2233022"/>
            <a:ext cx="3402479" cy="1243075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A846C4A1-37ED-549A-5680-E75D95445810}"/>
              </a:ext>
            </a:extLst>
          </p:cNvPr>
          <p:cNvCxnSpPr>
            <a:cxnSpLocks/>
          </p:cNvCxnSpPr>
          <p:nvPr/>
        </p:nvCxnSpPr>
        <p:spPr>
          <a:xfrm flipH="1">
            <a:off x="3636908" y="1687514"/>
            <a:ext cx="1508062" cy="450257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3749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307951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11</a:t>
                      </a:r>
                      <a:endParaRPr lang="ko-KR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3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4611D60-D92A-CB2E-F1C9-CE9E916C3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040743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042BB628-B7FA-670B-17B6-3D9D3042AC6A}"/>
              </a:ext>
            </a:extLst>
          </p:cNvPr>
          <p:cNvSpPr/>
          <p:nvPr/>
        </p:nvSpPr>
        <p:spPr>
          <a:xfrm>
            <a:off x="5352479" y="3477833"/>
            <a:ext cx="1726708" cy="53950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선택한 카드들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7E68791-900D-DF4B-99BA-A6E6E6F1759F}"/>
              </a:ext>
            </a:extLst>
          </p:cNvPr>
          <p:cNvSpPr/>
          <p:nvPr/>
        </p:nvSpPr>
        <p:spPr>
          <a:xfrm>
            <a:off x="5239536" y="339340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1E073E3-8C07-B5CC-5D23-472836C113EE}"/>
              </a:ext>
            </a:extLst>
          </p:cNvPr>
          <p:cNvSpPr/>
          <p:nvPr/>
        </p:nvSpPr>
        <p:spPr>
          <a:xfrm>
            <a:off x="5040099" y="1109778"/>
            <a:ext cx="2137611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dirty="0">
                <a:ea typeface="맑은 고딕"/>
              </a:rPr>
              <a:t>몬스터 미니상태창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98EB266C-ACF4-5345-4652-9D88C66DF358}"/>
              </a:ext>
            </a:extLst>
          </p:cNvPr>
          <p:cNvSpPr/>
          <p:nvPr/>
        </p:nvSpPr>
        <p:spPr>
          <a:xfrm>
            <a:off x="4925768" y="989075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2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graphicFrame>
        <p:nvGraphicFramePr>
          <p:cNvPr id="44" name="표 19">
            <a:extLst>
              <a:ext uri="{FF2B5EF4-FFF2-40B4-BE49-F238E27FC236}">
                <a16:creationId xmlns:a16="http://schemas.microsoft.com/office/drawing/2014/main" id="{B2FF8BAF-E1DE-2C05-3878-34E5BD2BE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109080"/>
              </p:ext>
            </p:extLst>
          </p:nvPr>
        </p:nvGraphicFramePr>
        <p:xfrm>
          <a:off x="8063146" y="1828807"/>
          <a:ext cx="3014653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선택한 카드들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두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카드를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삭제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몬스터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</a:t>
                      </a:r>
                      <a:r>
                        <a:rPr lang="en-US" altLang="ko-KR" sz="1200" b="0" i="0" u="none" strike="noStrike" noProof="0" err="1">
                          <a:solidFill>
                            <a:srgbClr val="000000"/>
                          </a:solidFill>
                          <a:latin typeface="Malgun Gothic"/>
                        </a:rPr>
                        <a:t>생존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</a:t>
                      </a:r>
                      <a:r>
                        <a:rPr lang="ko-KR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시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</a:t>
                      </a:r>
                      <a:r>
                        <a:rPr lang="en-US" sz="1200" b="0" i="0" u="none" strike="noStrike" noProof="0" err="1">
                          <a:solidFill>
                            <a:srgbClr val="000000"/>
                          </a:solidFill>
                          <a:latin typeface="Malgun Gothic"/>
                        </a:rPr>
                        <a:t>카드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</a:t>
                      </a:r>
                      <a:r>
                        <a:rPr lang="en-US" sz="1200" b="0" i="0" u="none" strike="noStrike" noProof="0" err="1">
                          <a:solidFill>
                            <a:srgbClr val="000000"/>
                          </a:solidFill>
                          <a:latin typeface="Malgun Gothic"/>
                        </a:rPr>
                        <a:t>남으면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</a:t>
                      </a:r>
                      <a:r>
                        <a:rPr lang="en-US" sz="1200" b="0" i="0" u="sng" strike="noStrike" noProof="0" err="1">
                          <a:solidFill>
                            <a:srgbClr val="000000"/>
                          </a:solidFill>
                          <a:latin typeface="Malgun Gothic"/>
                        </a:rPr>
                        <a:t>깊이</a:t>
                      </a:r>
                      <a:r>
                        <a:rPr lang="en-US" sz="1200" b="0" i="0" u="sng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8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으로, </a:t>
                      </a:r>
                      <a:r>
                        <a:rPr lang="en-US" sz="1200" b="0" i="0" u="none" strike="noStrike" noProof="0" err="1">
                          <a:solidFill>
                            <a:srgbClr val="000000"/>
                          </a:solidFill>
                          <a:latin typeface="Malgun Gothic"/>
                        </a:rPr>
                        <a:t>없으면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</a:t>
                      </a:r>
                      <a:r>
                        <a:rPr lang="en-US" sz="1200" b="0" i="0" u="sng" strike="noStrike" noProof="0" err="1">
                          <a:solidFill>
                            <a:srgbClr val="000000"/>
                          </a:solidFill>
                          <a:latin typeface="Malgun Gothic"/>
                        </a:rPr>
                        <a:t>깊이</a:t>
                      </a:r>
                      <a:r>
                        <a:rPr lang="en-US" sz="1200" b="0" i="0" u="sng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6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으로.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처치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 </a:t>
                      </a:r>
                      <a:r>
                        <a:rPr lang="en-US" altLang="ko-KR" sz="1200" b="0" i="0" u="sng" strike="noStrike" noProof="0" dirty="0" err="1">
                          <a:solidFill>
                            <a:srgbClr val="000000"/>
                          </a:solidFill>
                          <a:latin typeface="Malgun Gothic"/>
                        </a:rPr>
                        <a:t>깊이</a:t>
                      </a:r>
                      <a:r>
                        <a:rPr lang="en-US" altLang="ko-KR" sz="1200" b="0" i="0" u="sng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 13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</a:rPr>
                        <a:t>으로.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6" name="타원 45">
            <a:extLst>
              <a:ext uri="{FF2B5EF4-FFF2-40B4-BE49-F238E27FC236}">
                <a16:creationId xmlns:a16="http://schemas.microsoft.com/office/drawing/2014/main" id="{B0A2222E-D3BE-38D7-C5B1-FC35EC3A3146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48" name="표 19">
            <a:extLst>
              <a:ext uri="{FF2B5EF4-FFF2-40B4-BE49-F238E27FC236}">
                <a16:creationId xmlns:a16="http://schemas.microsoft.com/office/drawing/2014/main" id="{6ABCAB3A-86EF-3D60-6EB7-9502B698F5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322990"/>
              </p:ext>
            </p:extLst>
          </p:nvPr>
        </p:nvGraphicFramePr>
        <p:xfrm>
          <a:off x="8069053" y="3443845"/>
          <a:ext cx="3014648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56745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몬스터 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피격 시 체력 업데이트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1" name="타원 50">
            <a:extLst>
              <a:ext uri="{FF2B5EF4-FFF2-40B4-BE49-F238E27FC236}">
                <a16:creationId xmlns:a16="http://schemas.microsoft.com/office/drawing/2014/main" id="{D9F6663C-D1F4-FFE4-3A46-866EC7813695}"/>
              </a:ext>
            </a:extLst>
          </p:cNvPr>
          <p:cNvSpPr/>
          <p:nvPr/>
        </p:nvSpPr>
        <p:spPr>
          <a:xfrm>
            <a:off x="7956127" y="330289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D95AF64-F86A-0EAE-16D4-01DBE77BB7C6}"/>
              </a:ext>
            </a:extLst>
          </p:cNvPr>
          <p:cNvSpPr/>
          <p:nvPr/>
        </p:nvSpPr>
        <p:spPr>
          <a:xfrm>
            <a:off x="5137215" y="1719801"/>
            <a:ext cx="941073" cy="46382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몬스터</a:t>
            </a:r>
            <a:endParaRPr lang="en-US" altLang="ko-KR" dirty="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F286A037-7F40-947A-D278-89F1ED71A08A}"/>
              </a:ext>
            </a:extLst>
          </p:cNvPr>
          <p:cNvSpPr/>
          <p:nvPr/>
        </p:nvSpPr>
        <p:spPr>
          <a:xfrm>
            <a:off x="5022262" y="1599098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graphicFrame>
        <p:nvGraphicFramePr>
          <p:cNvPr id="49" name="표 19">
            <a:extLst>
              <a:ext uri="{FF2B5EF4-FFF2-40B4-BE49-F238E27FC236}">
                <a16:creationId xmlns:a16="http://schemas.microsoft.com/office/drawing/2014/main" id="{629C1900-E3F4-5BF2-DD57-72396C6BDE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3820253"/>
              </p:ext>
            </p:extLst>
          </p:nvPr>
        </p:nvGraphicFramePr>
        <p:xfrm>
          <a:off x="8063146" y="4335369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이팩트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2" name="타원 51">
            <a:extLst>
              <a:ext uri="{FF2B5EF4-FFF2-40B4-BE49-F238E27FC236}">
                <a16:creationId xmlns:a16="http://schemas.microsoft.com/office/drawing/2014/main" id="{0F952528-3C1C-C875-C487-7FCF188F5E47}"/>
              </a:ext>
            </a:extLst>
          </p:cNvPr>
          <p:cNvSpPr/>
          <p:nvPr/>
        </p:nvSpPr>
        <p:spPr>
          <a:xfrm>
            <a:off x="7950220" y="422493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pic>
        <p:nvPicPr>
          <p:cNvPr id="4" name="그림 3" descr="텍스트, 스크린샷, 게임, 경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A0918D-09D5-762D-908A-BB8ED813AB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09651"/>
            <a:ext cx="2427482" cy="4329112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4CC5E7C5-7FF7-A87F-0D74-48B3AC9A3CDD}"/>
              </a:ext>
            </a:extLst>
          </p:cNvPr>
          <p:cNvCxnSpPr>
            <a:cxnSpLocks/>
          </p:cNvCxnSpPr>
          <p:nvPr/>
        </p:nvCxnSpPr>
        <p:spPr>
          <a:xfrm flipH="1" flipV="1">
            <a:off x="1838906" y="3190338"/>
            <a:ext cx="3508734" cy="663578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40A71842-F164-3023-3EFD-978520F6F2D0}"/>
              </a:ext>
            </a:extLst>
          </p:cNvPr>
          <p:cNvCxnSpPr/>
          <p:nvPr/>
        </p:nvCxnSpPr>
        <p:spPr>
          <a:xfrm flipH="1" flipV="1">
            <a:off x="3796372" y="1198178"/>
            <a:ext cx="1311757" cy="17401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연결선: 꺾임 39">
            <a:extLst>
              <a:ext uri="{FF2B5EF4-FFF2-40B4-BE49-F238E27FC236}">
                <a16:creationId xmlns:a16="http://schemas.microsoft.com/office/drawing/2014/main" id="{6853DA69-A333-0661-7819-EC02517B1AE4}"/>
              </a:ext>
            </a:extLst>
          </p:cNvPr>
          <p:cNvCxnSpPr>
            <a:cxnSpLocks/>
          </p:cNvCxnSpPr>
          <p:nvPr/>
        </p:nvCxnSpPr>
        <p:spPr>
          <a:xfrm flipH="1">
            <a:off x="3655492" y="1994172"/>
            <a:ext cx="1480185" cy="190061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57606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7CEBA-5827-C658-070C-043DE4F0D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71DAC747-6EF4-8B07-2195-9A6E80C8A46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C23D296F-B3D8-A381-AFFE-4912A4E0618D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0CBC67E-D357-21F7-BFC3-6338043D0FC6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75F8C8F4-6630-ED94-E1FF-77788E369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09651"/>
            <a:ext cx="2427482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45D1BF97-0238-78C1-EC01-FB2B0A5019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172772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11</a:t>
                      </a:r>
                      <a:endParaRPr lang="ko-KR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2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44" name="표 19">
            <a:extLst>
              <a:ext uri="{FF2B5EF4-FFF2-40B4-BE49-F238E27FC236}">
                <a16:creationId xmlns:a16="http://schemas.microsoft.com/office/drawing/2014/main" id="{FE70B9DD-42A5-640E-3DB8-DF7A2E57FF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2345447"/>
              </p:ext>
            </p:extLst>
          </p:nvPr>
        </p:nvGraphicFramePr>
        <p:xfrm>
          <a:off x="8063146" y="1828807"/>
          <a:ext cx="3014653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플레이어 캐릭터</a:t>
                      </a:r>
                      <a:endParaRPr lang="ko-KR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en-US" sz="1200" b="0" i="0" u="none" strike="noStrike" noProof="0" dirty="0" err="1">
                          <a:solidFill>
                            <a:srgbClr val="000000"/>
                          </a:solidFill>
                          <a:latin typeface="Arial"/>
                        </a:rPr>
                        <a:t>공격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 err="1">
                          <a:solidFill>
                            <a:srgbClr val="000000"/>
                          </a:solidFill>
                          <a:latin typeface="Arial"/>
                        </a:rPr>
                        <a:t>애니메이션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 err="1">
                          <a:solidFill>
                            <a:srgbClr val="000000"/>
                          </a:solidFill>
                          <a:latin typeface="Arial"/>
                        </a:rPr>
                        <a:t>재생</a:t>
                      </a:r>
                      <a:endParaRPr lang="en-US" sz="1200" b="0" i="0" u="none" strike="noStrike" noProof="0" dirty="0" err="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기본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공격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랜덤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공격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발동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.</a:t>
                      </a:r>
                      <a:endParaRPr lang="en-US" altLang="ko-KR" sz="1200" b="0" i="0" u="none" strike="noStrike" noProof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연속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 err="1">
                          <a:solidFill>
                            <a:srgbClr val="000000"/>
                          </a:solidFill>
                          <a:latin typeface="Arial"/>
                        </a:rPr>
                        <a:t>짝맞추기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3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회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성공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스킬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1, 4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회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성공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스킬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발동</a:t>
                      </a: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54467594"/>
                  </a:ext>
                </a:extLst>
              </a:tr>
            </a:tbl>
          </a:graphicData>
        </a:graphic>
      </p:graphicFrame>
      <p:sp>
        <p:nvSpPr>
          <p:cNvPr id="46" name="타원 45">
            <a:extLst>
              <a:ext uri="{FF2B5EF4-FFF2-40B4-BE49-F238E27FC236}">
                <a16:creationId xmlns:a16="http://schemas.microsoft.com/office/drawing/2014/main" id="{F9905E65-5FB7-72DA-CB5F-4D3DE1EE506E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5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graphicFrame>
        <p:nvGraphicFramePr>
          <p:cNvPr id="48" name="표 19">
            <a:extLst>
              <a:ext uri="{FF2B5EF4-FFF2-40B4-BE49-F238E27FC236}">
                <a16:creationId xmlns:a16="http://schemas.microsoft.com/office/drawing/2014/main" id="{D51EB194-6D5D-2DDF-3ABA-A1849AD613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209446"/>
              </p:ext>
            </p:extLst>
          </p:nvPr>
        </p:nvGraphicFramePr>
        <p:xfrm>
          <a:off x="8069053" y="3422478"/>
          <a:ext cx="3014648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56745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성공 횟수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1 증가.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1" name="타원 50">
            <a:extLst>
              <a:ext uri="{FF2B5EF4-FFF2-40B4-BE49-F238E27FC236}">
                <a16:creationId xmlns:a16="http://schemas.microsoft.com/office/drawing/2014/main" id="{70052262-6500-6EB0-853B-D8C2347EC5ED}"/>
              </a:ext>
            </a:extLst>
          </p:cNvPr>
          <p:cNvSpPr/>
          <p:nvPr/>
        </p:nvSpPr>
        <p:spPr>
          <a:xfrm>
            <a:off x="7956127" y="328152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6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2C6D296-0C31-A2DB-B337-0D1535F08E98}"/>
              </a:ext>
            </a:extLst>
          </p:cNvPr>
          <p:cNvSpPr/>
          <p:nvPr/>
        </p:nvSpPr>
        <p:spPr>
          <a:xfrm>
            <a:off x="5295965" y="2620670"/>
            <a:ext cx="1882989" cy="506154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플레이어 캐릭터</a:t>
            </a:r>
            <a:endParaRPr lang="ko-KR" altLang="en-US" dirty="0">
              <a:ea typeface="맑은 고딕"/>
              <a:cs typeface="Arial"/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A8D2BE82-6A21-3783-F2A4-E371089FFB5F}"/>
              </a:ext>
            </a:extLst>
          </p:cNvPr>
          <p:cNvSpPr/>
          <p:nvPr/>
        </p:nvSpPr>
        <p:spPr>
          <a:xfrm>
            <a:off x="5181012" y="2499967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5E86489F-4787-E995-24C7-CD95ABFABD7F}"/>
              </a:ext>
            </a:extLst>
          </p:cNvPr>
          <p:cNvCxnSpPr>
            <a:cxnSpLocks/>
          </p:cNvCxnSpPr>
          <p:nvPr/>
        </p:nvCxnSpPr>
        <p:spPr>
          <a:xfrm flipH="1" flipV="1">
            <a:off x="1871356" y="2299649"/>
            <a:ext cx="3397333" cy="630109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20F77B6-8B8A-EF0D-C73B-5ED60188447E}"/>
              </a:ext>
            </a:extLst>
          </p:cNvPr>
          <p:cNvSpPr/>
          <p:nvPr/>
        </p:nvSpPr>
        <p:spPr>
          <a:xfrm>
            <a:off x="4747998" y="4540140"/>
            <a:ext cx="1193117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성공 횟수</a:t>
            </a:r>
            <a:endParaRPr lang="ko-KR" altLang="en-US" dirty="0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DC39F597-55AB-680A-F91A-50D5F2E051E0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6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B4854A1-B4A7-1600-0620-7D295EA9CC35}"/>
              </a:ext>
            </a:extLst>
          </p:cNvPr>
          <p:cNvCxnSpPr>
            <a:cxnSpLocks/>
          </p:cNvCxnSpPr>
          <p:nvPr/>
        </p:nvCxnSpPr>
        <p:spPr>
          <a:xfrm flipV="1">
            <a:off x="1795042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32AC2D3-1D4D-AEFD-08C4-DD85EA1E4DD5}"/>
              </a:ext>
            </a:extLst>
          </p:cNvPr>
          <p:cNvCxnSpPr/>
          <p:nvPr/>
        </p:nvCxnSpPr>
        <p:spPr>
          <a:xfrm>
            <a:off x="1801143" y="4782918"/>
            <a:ext cx="2951551" cy="1162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05239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1BDEA-CCA2-A4E9-9553-0E9E1AEC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67B40AA3-A26A-3887-D906-64DFA179433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01D92-F788-77D3-71B8-F80731F49866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E57FB9-DAAC-67F7-B517-809A44A5CF79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A9A51E33-F06C-AD1B-A4BD-67E35961B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329426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11</a:t>
                      </a:r>
                      <a:endParaRPr lang="ko-KR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4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98B21638-C3B9-0E16-C03C-FEA78A1FC97D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C88DE5DA-82F3-6F7C-94D4-CD2B59595814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1" name="표 19">
            <a:extLst>
              <a:ext uri="{FF2B5EF4-FFF2-40B4-BE49-F238E27FC236}">
                <a16:creationId xmlns:a16="http://schemas.microsoft.com/office/drawing/2014/main" id="{1A22FB51-5001-04E6-1896-27C695427C7E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1818465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 타이머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감소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</a:t>
                      </a:r>
                      <a:r>
                        <a:rPr lang="ko-KR" altLang="en-US" sz="1200" dirty="0"/>
                        <a:t>이 되면 몬스터가 공격한 후 스테이지 별 대기시간을 대입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2" name="타원 21">
            <a:extLst>
              <a:ext uri="{FF2B5EF4-FFF2-40B4-BE49-F238E27FC236}">
                <a16:creationId xmlns:a16="http://schemas.microsoft.com/office/drawing/2014/main" id="{C13EF820-A707-A6CA-0A39-9BFEB76118AD}"/>
              </a:ext>
            </a:extLst>
          </p:cNvPr>
          <p:cNvSpPr/>
          <p:nvPr/>
        </p:nvSpPr>
        <p:spPr>
          <a:xfrm>
            <a:off x="7956127" y="170803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61F7D8-6B11-5E18-0DEB-88DA40BB316E}"/>
              </a:ext>
            </a:extLst>
          </p:cNvPr>
          <p:cNvSpPr/>
          <p:nvPr/>
        </p:nvSpPr>
        <p:spPr>
          <a:xfrm>
            <a:off x="5073716" y="381396"/>
            <a:ext cx="1364406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미니상태창</a:t>
            </a:r>
            <a:endParaRPr lang="en-US" altLang="ko-KR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D983F32B-9163-C9A9-8D6E-CEBB63205597}"/>
              </a:ext>
            </a:extLst>
          </p:cNvPr>
          <p:cNvSpPr/>
          <p:nvPr/>
        </p:nvSpPr>
        <p:spPr>
          <a:xfrm>
            <a:off x="4948180" y="2606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6" name="표 19">
            <a:extLst>
              <a:ext uri="{FF2B5EF4-FFF2-40B4-BE49-F238E27FC236}">
                <a16:creationId xmlns:a16="http://schemas.microsoft.com/office/drawing/2014/main" id="{8D04AAB3-203B-66C2-5D68-004B09FD00CB}"/>
              </a:ext>
            </a:extLst>
          </p:cNvPr>
          <p:cNvGraphicFramePr>
            <a:graphicFrameLocks noGrp="1"/>
          </p:cNvGraphicFramePr>
          <p:nvPr/>
        </p:nvGraphicFramePr>
        <p:xfrm>
          <a:off x="8063147" y="3180719"/>
          <a:ext cx="3014653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플레이어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캐릭터의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상태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출력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체력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업데이트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처치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경험치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업데이트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7" name="타원 26">
            <a:extLst>
              <a:ext uri="{FF2B5EF4-FFF2-40B4-BE49-F238E27FC236}">
                <a16:creationId xmlns:a16="http://schemas.microsoft.com/office/drawing/2014/main" id="{6AB78670-3296-FD00-9B06-00ED5216255E}"/>
              </a:ext>
            </a:extLst>
          </p:cNvPr>
          <p:cNvSpPr/>
          <p:nvPr/>
        </p:nvSpPr>
        <p:spPr>
          <a:xfrm>
            <a:off x="7950221" y="307028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pic>
        <p:nvPicPr>
          <p:cNvPr id="3" name="그림 2" descr="스크린샷, 텍스트, PC 게임, 비디오 게임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3E0A9E-A8C3-7ECC-C145-DFE491EF55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09651"/>
            <a:ext cx="2427482" cy="4329112"/>
          </a:xfrm>
          <a:prstGeom prst="rect">
            <a:avLst/>
          </a:prstGeom>
        </p:spPr>
      </p:pic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3A93CDBB-3F05-B8A9-F3FA-2F2DFC4EDF8F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13993" y="608016"/>
            <a:ext cx="2746311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21FFA2DF-779E-4FCC-E78A-B0A007266B12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5E218AD-9867-4B9F-BA5B-7118EF447E04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04D6F2EA-961C-FD1B-6725-F97215C55587}"/>
              </a:ext>
            </a:extLst>
          </p:cNvPr>
          <p:cNvSpPr/>
          <p:nvPr/>
        </p:nvSpPr>
        <p:spPr>
          <a:xfrm>
            <a:off x="5137215" y="1450313"/>
            <a:ext cx="941073" cy="46382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몬스터</a:t>
            </a:r>
            <a:endParaRPr lang="en-US" altLang="ko-KR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B688BEB2-567A-959A-1821-EB6F51DE65EC}"/>
              </a:ext>
            </a:extLst>
          </p:cNvPr>
          <p:cNvSpPr/>
          <p:nvPr/>
        </p:nvSpPr>
        <p:spPr>
          <a:xfrm>
            <a:off x="5022262" y="1329610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graphicFrame>
        <p:nvGraphicFramePr>
          <p:cNvPr id="18" name="표 19">
            <a:extLst>
              <a:ext uri="{FF2B5EF4-FFF2-40B4-BE49-F238E27FC236}">
                <a16:creationId xmlns:a16="http://schemas.microsoft.com/office/drawing/2014/main" id="{E7F5C37D-6D6E-F520-F2C5-24D36D30B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756597"/>
              </p:ext>
            </p:extLst>
          </p:nvPr>
        </p:nvGraphicFramePr>
        <p:xfrm>
          <a:off x="8063146" y="4545968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19" name="타원 18">
            <a:extLst>
              <a:ext uri="{FF2B5EF4-FFF2-40B4-BE49-F238E27FC236}">
                <a16:creationId xmlns:a16="http://schemas.microsoft.com/office/drawing/2014/main" id="{845C1906-34D1-AE80-482D-3FD31B49409F}"/>
              </a:ext>
            </a:extLst>
          </p:cNvPr>
          <p:cNvSpPr/>
          <p:nvPr/>
        </p:nvSpPr>
        <p:spPr>
          <a:xfrm>
            <a:off x="7950220" y="443553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1A2DA8-1790-C6B3-4BE5-B9805D182F89}"/>
              </a:ext>
            </a:extLst>
          </p:cNvPr>
          <p:cNvSpPr/>
          <p:nvPr/>
        </p:nvSpPr>
        <p:spPr>
          <a:xfrm>
            <a:off x="5295965" y="3238896"/>
            <a:ext cx="1882989" cy="506154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플레이어 캐릭터</a:t>
            </a:r>
            <a:endParaRPr lang="ko-KR" altLang="en-US" dirty="0">
              <a:ea typeface="맑은 고딕"/>
              <a:cs typeface="Arial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8B3DA00-D848-A72C-964B-1EFF49279CC9}"/>
              </a:ext>
            </a:extLst>
          </p:cNvPr>
          <p:cNvSpPr/>
          <p:nvPr/>
        </p:nvSpPr>
        <p:spPr>
          <a:xfrm>
            <a:off x="5181012" y="31181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55CAC4AF-25A9-9591-7525-9AD431682027}"/>
              </a:ext>
            </a:extLst>
          </p:cNvPr>
          <p:cNvCxnSpPr>
            <a:cxnSpLocks/>
          </p:cNvCxnSpPr>
          <p:nvPr/>
        </p:nvCxnSpPr>
        <p:spPr>
          <a:xfrm flipH="1" flipV="1">
            <a:off x="1901242" y="2233022"/>
            <a:ext cx="3402479" cy="1243075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E239C7D2-0DF6-B9CD-A317-C95F91A28D2C}"/>
              </a:ext>
            </a:extLst>
          </p:cNvPr>
          <p:cNvCxnSpPr>
            <a:cxnSpLocks/>
          </p:cNvCxnSpPr>
          <p:nvPr/>
        </p:nvCxnSpPr>
        <p:spPr>
          <a:xfrm flipH="1">
            <a:off x="3636908" y="1687514"/>
            <a:ext cx="1508062" cy="450257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표 19">
            <a:extLst>
              <a:ext uri="{FF2B5EF4-FFF2-40B4-BE49-F238E27FC236}">
                <a16:creationId xmlns:a16="http://schemas.microsoft.com/office/drawing/2014/main" id="{F75033C7-6D97-7C30-D2CB-4C0563A71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387807"/>
              </p:ext>
            </p:extLst>
          </p:nvPr>
        </p:nvGraphicFramePr>
        <p:xfrm>
          <a:off x="8063146" y="5371468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플레이어 캐릭터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이팩트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  <a:endParaRPr lang="ko-KR" altLang="en-US" dirty="0" err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37" name="타원 36">
            <a:extLst>
              <a:ext uri="{FF2B5EF4-FFF2-40B4-BE49-F238E27FC236}">
                <a16:creationId xmlns:a16="http://schemas.microsoft.com/office/drawing/2014/main" id="{B12D05E3-DB62-2FD0-B2E0-4624566DC54C}"/>
              </a:ext>
            </a:extLst>
          </p:cNvPr>
          <p:cNvSpPr/>
          <p:nvPr/>
        </p:nvSpPr>
        <p:spPr>
          <a:xfrm>
            <a:off x="7950220" y="526103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57761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 descr="스크린샷, 텍스트, PC 게임, 비디오 게임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942" y="1009651"/>
            <a:ext cx="2421880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049755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12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1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0C1640E-0315-57C5-2E52-2A9202492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841111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  <p:graphicFrame>
        <p:nvGraphicFramePr>
          <p:cNvPr id="5" name="표 19">
            <a:extLst>
              <a:ext uri="{FF2B5EF4-FFF2-40B4-BE49-F238E27FC236}">
                <a16:creationId xmlns:a16="http://schemas.microsoft.com/office/drawing/2014/main" id="{8EEED316-2F0F-B5FD-284D-3517A71C15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442019"/>
              </p:ext>
            </p:extLst>
          </p:nvPr>
        </p:nvGraphicFramePr>
        <p:xfrm>
          <a:off x="8063146" y="1828807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선택한 카드들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en-US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두 </a:t>
                      </a:r>
                      <a:r>
                        <a:rPr lang="en-US" altLang="en-US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카드</a:t>
                      </a:r>
                      <a:r>
                        <a:rPr lang="en-US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en-US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각자</a:t>
                      </a:r>
                      <a:r>
                        <a:rPr lang="en-US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en-US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Y축을</a:t>
                      </a:r>
                      <a:r>
                        <a:rPr lang="en-US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en-US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기준으로</a:t>
                      </a:r>
                      <a:r>
                        <a:rPr lang="en-US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1초동안 -180도 </a:t>
                      </a:r>
                      <a:r>
                        <a:rPr lang="en-US" altLang="en-US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회전</a:t>
                      </a:r>
                      <a:r>
                        <a:rPr lang="en-US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en-US" altLang="en-US" sz="1200" b="0" i="0" u="sng" strike="noStrike" noProof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깊이</a:t>
                      </a:r>
                      <a:r>
                        <a:rPr lang="en-US" altLang="en-US" sz="1200" b="0" i="0" u="sng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8</a:t>
                      </a:r>
                      <a:r>
                        <a:rPr lang="en-US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로 </a:t>
                      </a:r>
                      <a:r>
                        <a:rPr lang="en-US" altLang="en-US" sz="1200" b="0" i="0" u="none" strike="noStrike" noProof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이동</a:t>
                      </a:r>
                      <a:r>
                        <a:rPr lang="en-US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A03823FD-3698-694D-5C7B-8169BBE8CA6A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10" name="표 19">
            <a:extLst>
              <a:ext uri="{FF2B5EF4-FFF2-40B4-BE49-F238E27FC236}">
                <a16:creationId xmlns:a16="http://schemas.microsoft.com/office/drawing/2014/main" id="{DA75CD55-53C3-8C70-253D-C3DBE95307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4831189"/>
              </p:ext>
            </p:extLst>
          </p:nvPr>
        </p:nvGraphicFramePr>
        <p:xfrm>
          <a:off x="8069053" y="3054801"/>
          <a:ext cx="3014648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56745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실패 횟수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1 증가.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ko-KR" altLang="en-US" sz="1200" dirty="0"/>
                        <a:t>허용 실패 횟수와 연산하기 위한 별도의 숫자 필요. 허용 숫자보다 커지면 몬스터가 타격하고 허용 실패 횟수만큼 감산.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54276106"/>
                  </a:ext>
                </a:extLst>
              </a:tr>
            </a:tbl>
          </a:graphicData>
        </a:graphic>
      </p:graphicFrame>
      <p:sp>
        <p:nvSpPr>
          <p:cNvPr id="18" name="타원 17">
            <a:extLst>
              <a:ext uri="{FF2B5EF4-FFF2-40B4-BE49-F238E27FC236}">
                <a16:creationId xmlns:a16="http://schemas.microsoft.com/office/drawing/2014/main" id="{FBDEA4C4-FF7B-0DBC-BFAC-7AD4C0B452F4}"/>
              </a:ext>
            </a:extLst>
          </p:cNvPr>
          <p:cNvSpPr/>
          <p:nvPr/>
        </p:nvSpPr>
        <p:spPr>
          <a:xfrm>
            <a:off x="7956127" y="291384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6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C740D2-1A59-24BA-D2AE-002B5EF23EE6}"/>
              </a:ext>
            </a:extLst>
          </p:cNvPr>
          <p:cNvSpPr/>
          <p:nvPr/>
        </p:nvSpPr>
        <p:spPr>
          <a:xfrm>
            <a:off x="5352479" y="3477833"/>
            <a:ext cx="1726708" cy="53950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선택한 카드들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07BAE44-6950-7460-2AD8-EFD3F950E4D1}"/>
              </a:ext>
            </a:extLst>
          </p:cNvPr>
          <p:cNvSpPr/>
          <p:nvPr/>
        </p:nvSpPr>
        <p:spPr>
          <a:xfrm>
            <a:off x="5239536" y="339340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AD976153-8317-CF92-7A52-13AF32462E46}"/>
              </a:ext>
            </a:extLst>
          </p:cNvPr>
          <p:cNvCxnSpPr>
            <a:cxnSpLocks/>
          </p:cNvCxnSpPr>
          <p:nvPr/>
        </p:nvCxnSpPr>
        <p:spPr>
          <a:xfrm flipH="1" flipV="1">
            <a:off x="1838906" y="3190338"/>
            <a:ext cx="3508734" cy="663578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45D5DBF-00FC-9403-5B1A-971A8316F4CB}"/>
              </a:ext>
            </a:extLst>
          </p:cNvPr>
          <p:cNvSpPr/>
          <p:nvPr/>
        </p:nvSpPr>
        <p:spPr>
          <a:xfrm>
            <a:off x="4877394" y="2153499"/>
            <a:ext cx="1193117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실패 횟수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F421AAA-9FA6-D13D-6792-A3F30CBC32AC}"/>
              </a:ext>
            </a:extLst>
          </p:cNvPr>
          <p:cNvSpPr/>
          <p:nvPr/>
        </p:nvSpPr>
        <p:spPr>
          <a:xfrm>
            <a:off x="4777150" y="204273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6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670D496-D6D0-54EC-CB77-583982EBEA2F}"/>
              </a:ext>
            </a:extLst>
          </p:cNvPr>
          <p:cNvCxnSpPr/>
          <p:nvPr/>
        </p:nvCxnSpPr>
        <p:spPr>
          <a:xfrm>
            <a:off x="3549140" y="2369474"/>
            <a:ext cx="1731" cy="297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7ABCC598-1621-85AB-9853-619E6813B2BD}"/>
              </a:ext>
            </a:extLst>
          </p:cNvPr>
          <p:cNvCxnSpPr/>
          <p:nvPr/>
        </p:nvCxnSpPr>
        <p:spPr>
          <a:xfrm>
            <a:off x="3543300" y="2367973"/>
            <a:ext cx="1333500" cy="1905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9253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03B52-9AD9-B0D9-747B-A97701556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D4F51E92-538B-5867-89FF-14BBD6046D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F64E5C07-868B-5E84-655C-3380E49C473A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6DE68D9-7702-CA20-051B-12F920EB2AA8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65C83A4A-1528-19EE-B12D-AC5AAE4BD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7926632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12</a:t>
                      </a:r>
                      <a:endParaRPr lang="ko-KR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4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CB729397-B209-E52F-FE0C-4F14B2DC82C6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D72BC9C-8CA2-0372-9AD5-5FA7D2C727BF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1" name="표 19">
            <a:extLst>
              <a:ext uri="{FF2B5EF4-FFF2-40B4-BE49-F238E27FC236}">
                <a16:creationId xmlns:a16="http://schemas.microsoft.com/office/drawing/2014/main" id="{F0B66CBB-33AF-0A62-DDD6-8A4B8E6D7A4A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1818465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 타이머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감소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</a:t>
                      </a:r>
                      <a:r>
                        <a:rPr lang="ko-KR" altLang="en-US" sz="1200" dirty="0"/>
                        <a:t>이 되면 몬스터가 공격한 후 스테이지 별 대기시간을 대입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2" name="타원 21">
            <a:extLst>
              <a:ext uri="{FF2B5EF4-FFF2-40B4-BE49-F238E27FC236}">
                <a16:creationId xmlns:a16="http://schemas.microsoft.com/office/drawing/2014/main" id="{CD89D9C8-9A9A-0ED1-AF5A-023F03EDA9EC}"/>
              </a:ext>
            </a:extLst>
          </p:cNvPr>
          <p:cNvSpPr/>
          <p:nvPr/>
        </p:nvSpPr>
        <p:spPr>
          <a:xfrm>
            <a:off x="7956127" y="170803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E9CD03-70A3-29FA-46E2-69BA7DB93B0B}"/>
              </a:ext>
            </a:extLst>
          </p:cNvPr>
          <p:cNvSpPr/>
          <p:nvPr/>
        </p:nvSpPr>
        <p:spPr>
          <a:xfrm>
            <a:off x="5073716" y="381396"/>
            <a:ext cx="1364406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미니상태창</a:t>
            </a:r>
            <a:endParaRPr lang="en-US" altLang="ko-KR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F70B2585-FD35-79EA-E028-CDB061EB4CC3}"/>
              </a:ext>
            </a:extLst>
          </p:cNvPr>
          <p:cNvSpPr/>
          <p:nvPr/>
        </p:nvSpPr>
        <p:spPr>
          <a:xfrm>
            <a:off x="4948180" y="2606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6" name="표 19">
            <a:extLst>
              <a:ext uri="{FF2B5EF4-FFF2-40B4-BE49-F238E27FC236}">
                <a16:creationId xmlns:a16="http://schemas.microsoft.com/office/drawing/2014/main" id="{D5C87618-1512-901F-C501-62633891AD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231885"/>
              </p:ext>
            </p:extLst>
          </p:nvPr>
        </p:nvGraphicFramePr>
        <p:xfrm>
          <a:off x="8063147" y="3180719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플레이어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캐릭터의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상태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출력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체력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업데이트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7" name="타원 26">
            <a:extLst>
              <a:ext uri="{FF2B5EF4-FFF2-40B4-BE49-F238E27FC236}">
                <a16:creationId xmlns:a16="http://schemas.microsoft.com/office/drawing/2014/main" id="{827125FE-5A5F-F542-74CD-2A3F48905596}"/>
              </a:ext>
            </a:extLst>
          </p:cNvPr>
          <p:cNvSpPr/>
          <p:nvPr/>
        </p:nvSpPr>
        <p:spPr>
          <a:xfrm>
            <a:off x="7950221" y="307028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51C35B0-3811-AB35-A133-F453DC1582A4}"/>
              </a:ext>
            </a:extLst>
          </p:cNvPr>
          <p:cNvSpPr/>
          <p:nvPr/>
        </p:nvSpPr>
        <p:spPr>
          <a:xfrm>
            <a:off x="5137215" y="1450313"/>
            <a:ext cx="941073" cy="46382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몬스터</a:t>
            </a:r>
            <a:endParaRPr lang="en-US" altLang="ko-KR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691293C-2C86-A802-EF08-8D60C69E60DF}"/>
              </a:ext>
            </a:extLst>
          </p:cNvPr>
          <p:cNvSpPr/>
          <p:nvPr/>
        </p:nvSpPr>
        <p:spPr>
          <a:xfrm>
            <a:off x="5022262" y="1329610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B053643-01BD-184C-52C2-07FF7B8EE9F9}"/>
              </a:ext>
            </a:extLst>
          </p:cNvPr>
          <p:cNvSpPr/>
          <p:nvPr/>
        </p:nvSpPr>
        <p:spPr>
          <a:xfrm>
            <a:off x="5295965" y="3238896"/>
            <a:ext cx="1882989" cy="506154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플레이어 캐릭터</a:t>
            </a:r>
            <a:endParaRPr lang="ko-KR" altLang="en-US" dirty="0">
              <a:ea typeface="맑은 고딕"/>
              <a:cs typeface="Arial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E13E1B4-DC31-2354-ACB1-947206517152}"/>
              </a:ext>
            </a:extLst>
          </p:cNvPr>
          <p:cNvSpPr/>
          <p:nvPr/>
        </p:nvSpPr>
        <p:spPr>
          <a:xfrm>
            <a:off x="5181012" y="31181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graphicFrame>
        <p:nvGraphicFramePr>
          <p:cNvPr id="4" name="표 19">
            <a:extLst>
              <a:ext uri="{FF2B5EF4-FFF2-40B4-BE49-F238E27FC236}">
                <a16:creationId xmlns:a16="http://schemas.microsoft.com/office/drawing/2014/main" id="{AB7A994F-E22C-6D35-1BDD-3926C4A34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187566"/>
              </p:ext>
            </p:extLst>
          </p:nvPr>
        </p:nvGraphicFramePr>
        <p:xfrm>
          <a:off x="8063146" y="419284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10" name="타원 9">
            <a:extLst>
              <a:ext uri="{FF2B5EF4-FFF2-40B4-BE49-F238E27FC236}">
                <a16:creationId xmlns:a16="http://schemas.microsoft.com/office/drawing/2014/main" id="{6F9364BC-CB35-4B7A-8A32-44E3744E4B0B}"/>
              </a:ext>
            </a:extLst>
          </p:cNvPr>
          <p:cNvSpPr/>
          <p:nvPr/>
        </p:nvSpPr>
        <p:spPr>
          <a:xfrm>
            <a:off x="7950220" y="40824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graphicFrame>
        <p:nvGraphicFramePr>
          <p:cNvPr id="16" name="표 19">
            <a:extLst>
              <a:ext uri="{FF2B5EF4-FFF2-40B4-BE49-F238E27FC236}">
                <a16:creationId xmlns:a16="http://schemas.microsoft.com/office/drawing/2014/main" id="{E3B1FA16-DE4D-B2D7-A0B8-BD43BC9A39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991632"/>
              </p:ext>
            </p:extLst>
          </p:nvPr>
        </p:nvGraphicFramePr>
        <p:xfrm>
          <a:off x="8063146" y="501834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플레이어 캐릭터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공격</a:t>
                      </a:r>
                      <a:r>
                        <a:rPr lang="en-US" altLang="ko-KR" sz="1200" dirty="0"/>
                        <a:t> 시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애니메이션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피격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이팩트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재생</a:t>
                      </a:r>
                      <a:r>
                        <a:rPr lang="en-US" altLang="ko-KR" sz="1200" dirty="0"/>
                        <a:t>.</a:t>
                      </a:r>
                      <a:endParaRPr lang="ko-KR" altLang="en-US" dirty="0" err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9" name="타원 28">
            <a:extLst>
              <a:ext uri="{FF2B5EF4-FFF2-40B4-BE49-F238E27FC236}">
                <a16:creationId xmlns:a16="http://schemas.microsoft.com/office/drawing/2014/main" id="{BD14C954-4D6D-6870-2012-2EC4F59A753B}"/>
              </a:ext>
            </a:extLst>
          </p:cNvPr>
          <p:cNvSpPr/>
          <p:nvPr/>
        </p:nvSpPr>
        <p:spPr>
          <a:xfrm>
            <a:off x="7950220" y="49079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CD18096-E70B-8E46-A536-0B82A1726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942" y="1009651"/>
            <a:ext cx="2421880" cy="4329112"/>
          </a:xfrm>
          <a:prstGeom prst="rect">
            <a:avLst/>
          </a:prstGeom>
        </p:spPr>
      </p:pic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4200C79E-7BBE-CBA1-01B1-D81C511028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13993" y="608016"/>
            <a:ext cx="2746311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4292157-0077-6223-8676-8B90B7FCF937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5E7C68E-A538-709A-1D78-CDCEC2266E52}"/>
              </a:ext>
            </a:extLst>
          </p:cNvPr>
          <p:cNvCxnSpPr>
            <a:cxnSpLocks/>
          </p:cNvCxnSpPr>
          <p:nvPr/>
        </p:nvCxnSpPr>
        <p:spPr>
          <a:xfrm flipH="1" flipV="1">
            <a:off x="1901242" y="2233022"/>
            <a:ext cx="3402479" cy="1243075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13FDD2B5-65CF-5857-D372-DDE27C80DEA7}"/>
              </a:ext>
            </a:extLst>
          </p:cNvPr>
          <p:cNvCxnSpPr>
            <a:cxnSpLocks/>
          </p:cNvCxnSpPr>
          <p:nvPr/>
        </p:nvCxnSpPr>
        <p:spPr>
          <a:xfrm flipH="1">
            <a:off x="3636908" y="1687514"/>
            <a:ext cx="1508062" cy="450257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016D8D09-DB9B-EA15-E3A7-0F60A30A4800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352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E44B6-785C-2CB4-D633-80971315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4C0C5319-D2B4-1815-08D0-0CE56AFA36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3110E761-8F6A-DBF9-2636-98387121C78F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A53E6BA-05C4-5939-FA7B-132523731EC3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DD5383D0-BE9A-9AB1-C501-4AF9D45B7C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598101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13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3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718994-AAF8-902E-EEE4-5C19EC9603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661910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11</a:t>
                      </a:r>
                      <a:endParaRPr lang="ko-KR" dirty="0"/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1C164671-3A05-038A-7DA4-C2E41657E1F2}"/>
              </a:ext>
            </a:extLst>
          </p:cNvPr>
          <p:cNvSpPr/>
          <p:nvPr/>
        </p:nvSpPr>
        <p:spPr>
          <a:xfrm>
            <a:off x="5040099" y="1109778"/>
            <a:ext cx="2137611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dirty="0">
                <a:ea typeface="맑은 고딕"/>
              </a:rPr>
              <a:t>몬스터 미니상태창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7BDE91DB-4632-89FD-184A-F289B1D27AE2}"/>
              </a:ext>
            </a:extLst>
          </p:cNvPr>
          <p:cNvSpPr/>
          <p:nvPr/>
        </p:nvSpPr>
        <p:spPr>
          <a:xfrm>
            <a:off x="4925768" y="989075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2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graphicFrame>
        <p:nvGraphicFramePr>
          <p:cNvPr id="48" name="표 19">
            <a:extLst>
              <a:ext uri="{FF2B5EF4-FFF2-40B4-BE49-F238E27FC236}">
                <a16:creationId xmlns:a16="http://schemas.microsoft.com/office/drawing/2014/main" id="{9EF2A9E8-B1BE-5DC0-8AE9-3E896CFD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856719"/>
              </p:ext>
            </p:extLst>
          </p:nvPr>
        </p:nvGraphicFramePr>
        <p:xfrm>
          <a:off x="8069053" y="3052261"/>
          <a:ext cx="3014648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56745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몬스터 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애니메이션 재생 종료 시 삭제.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1" name="타원 50">
            <a:extLst>
              <a:ext uri="{FF2B5EF4-FFF2-40B4-BE49-F238E27FC236}">
                <a16:creationId xmlns:a16="http://schemas.microsoft.com/office/drawing/2014/main" id="{D9561CC5-8EE6-D149-5878-B03DB7FDE162}"/>
              </a:ext>
            </a:extLst>
          </p:cNvPr>
          <p:cNvSpPr/>
          <p:nvPr/>
        </p:nvSpPr>
        <p:spPr>
          <a:xfrm>
            <a:off x="7956127" y="291130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58C4E93-70D4-DC93-7200-6150BE1A216F}"/>
              </a:ext>
            </a:extLst>
          </p:cNvPr>
          <p:cNvSpPr/>
          <p:nvPr/>
        </p:nvSpPr>
        <p:spPr>
          <a:xfrm>
            <a:off x="5137215" y="1719801"/>
            <a:ext cx="941073" cy="46382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</a:rPr>
              <a:t>몬스터</a:t>
            </a:r>
            <a:endParaRPr lang="en-US" altLang="ko-KR" dirty="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EEB8D20E-3D37-B99D-3558-13B774AA130B}"/>
              </a:ext>
            </a:extLst>
          </p:cNvPr>
          <p:cNvSpPr/>
          <p:nvPr/>
        </p:nvSpPr>
        <p:spPr>
          <a:xfrm>
            <a:off x="5022262" y="1599098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3</a:t>
            </a:r>
          </a:p>
        </p:txBody>
      </p:sp>
      <p:graphicFrame>
        <p:nvGraphicFramePr>
          <p:cNvPr id="49" name="표 19">
            <a:extLst>
              <a:ext uri="{FF2B5EF4-FFF2-40B4-BE49-F238E27FC236}">
                <a16:creationId xmlns:a16="http://schemas.microsoft.com/office/drawing/2014/main" id="{60212808-2691-5939-77FF-7A54A13163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133630"/>
              </p:ext>
            </p:extLst>
          </p:nvPr>
        </p:nvGraphicFramePr>
        <p:xfrm>
          <a:off x="8063146" y="4060201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10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743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사망 애니메이션 재생 및 애니메이션 종료 시 삭제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2" name="타원 51">
            <a:extLst>
              <a:ext uri="{FF2B5EF4-FFF2-40B4-BE49-F238E27FC236}">
                <a16:creationId xmlns:a16="http://schemas.microsoft.com/office/drawing/2014/main" id="{8F59C542-FB0E-B7EF-75C0-2A743F586093}"/>
              </a:ext>
            </a:extLst>
          </p:cNvPr>
          <p:cNvSpPr/>
          <p:nvPr/>
        </p:nvSpPr>
        <p:spPr>
          <a:xfrm>
            <a:off x="7950220" y="394976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3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997782-2259-27D5-5582-FBB9E4A5C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26819"/>
            <a:ext cx="2427482" cy="4294775"/>
          </a:xfrm>
          <a:prstGeom prst="rect">
            <a:avLst/>
          </a:prstGeom>
        </p:spPr>
      </p:pic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8FEFED7F-C681-FD0E-2D39-B71FF314F516}"/>
              </a:ext>
            </a:extLst>
          </p:cNvPr>
          <p:cNvCxnSpPr/>
          <p:nvPr/>
        </p:nvCxnSpPr>
        <p:spPr>
          <a:xfrm flipH="1" flipV="1">
            <a:off x="3796372" y="1198178"/>
            <a:ext cx="1311757" cy="17401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연결선: 꺾임 39">
            <a:extLst>
              <a:ext uri="{FF2B5EF4-FFF2-40B4-BE49-F238E27FC236}">
                <a16:creationId xmlns:a16="http://schemas.microsoft.com/office/drawing/2014/main" id="{5E3F17E4-1017-FA59-0D4B-590561A78ED6}"/>
              </a:ext>
            </a:extLst>
          </p:cNvPr>
          <p:cNvCxnSpPr>
            <a:cxnSpLocks/>
          </p:cNvCxnSpPr>
          <p:nvPr/>
        </p:nvCxnSpPr>
        <p:spPr>
          <a:xfrm flipH="1">
            <a:off x="3655492" y="1994172"/>
            <a:ext cx="1480185" cy="190061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표 19">
            <a:extLst>
              <a:ext uri="{FF2B5EF4-FFF2-40B4-BE49-F238E27FC236}">
                <a16:creationId xmlns:a16="http://schemas.microsoft.com/office/drawing/2014/main" id="{255F15CA-124C-1D2B-41DC-FD6A55DA6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968577"/>
              </p:ext>
            </p:extLst>
          </p:nvPr>
        </p:nvGraphicFramePr>
        <p:xfrm>
          <a:off x="8073658" y="1827954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3초 후에 비활성화. 스테이지에 적이 있으면 </a:t>
                      </a:r>
                      <a:r>
                        <a:rPr lang="ko-KR" altLang="en-US" sz="1200" u="sng" dirty="0"/>
                        <a:t>깊이 5</a:t>
                      </a:r>
                      <a:r>
                        <a:rPr lang="ko-KR" altLang="en-US" sz="1200" dirty="0"/>
                        <a:t>로. 없으면 </a:t>
                      </a:r>
                      <a:r>
                        <a:rPr lang="ko-KR" altLang="en-US" sz="1200" u="sng" dirty="0"/>
                        <a:t>깊이 14</a:t>
                      </a:r>
                      <a:r>
                        <a:rPr lang="ko-KR" altLang="en-US" sz="1200" dirty="0"/>
                        <a:t>로.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2341F43-C49A-5A6D-E06B-0A5551AADDBE}"/>
              </a:ext>
            </a:extLst>
          </p:cNvPr>
          <p:cNvSpPr/>
          <p:nvPr/>
        </p:nvSpPr>
        <p:spPr>
          <a:xfrm>
            <a:off x="7952037" y="170912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1</a:t>
            </a: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865BC8D-4CF6-41B1-DD9D-DD8A109A232F}"/>
              </a:ext>
            </a:extLst>
          </p:cNvPr>
          <p:cNvCxnSpPr>
            <a:cxnSpLocks/>
          </p:cNvCxnSpPr>
          <p:nvPr/>
        </p:nvCxnSpPr>
        <p:spPr>
          <a:xfrm rot="10800000">
            <a:off x="3871081" y="335130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3D1B437-FB66-6770-1579-692D72EFE6E6}"/>
              </a:ext>
            </a:extLst>
          </p:cNvPr>
          <p:cNvSpPr/>
          <p:nvPr/>
        </p:nvSpPr>
        <p:spPr>
          <a:xfrm>
            <a:off x="4823908" y="3755136"/>
            <a:ext cx="1390279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메시지 박스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B1AC336D-8228-CA91-F7A7-A1EB06BC2A8C}"/>
              </a:ext>
            </a:extLst>
          </p:cNvPr>
          <p:cNvSpPr/>
          <p:nvPr/>
        </p:nvSpPr>
        <p:spPr>
          <a:xfrm>
            <a:off x="4710965" y="362758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120234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8F37B-9CB1-4F75-21F2-C22285CC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F068F8EF-2A9E-70C4-B1F1-F4AC84DEA8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25EFD630-6867-563B-EE9E-E9AF94377C09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1EBDE02-668D-BF0A-DCAA-B83D989FB2A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6F16976D-569A-2E8E-C036-0CCC2DC4A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687843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15</a:t>
                      </a:r>
                      <a:endParaRPr lang="ko-KR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2052C60-38D3-BD5C-7190-87AD0197E3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257064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13</a:t>
                      </a:r>
                      <a:endParaRPr lang="ko-KR" dirty="0"/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559967ED-E13F-8C74-C8B9-98847DCF0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547" y="1026819"/>
            <a:ext cx="2402671" cy="4294775"/>
          </a:xfrm>
          <a:prstGeom prst="rect">
            <a:avLst/>
          </a:prstGeom>
        </p:spPr>
      </p:pic>
      <p:graphicFrame>
        <p:nvGraphicFramePr>
          <p:cNvPr id="6" name="표 19">
            <a:extLst>
              <a:ext uri="{FF2B5EF4-FFF2-40B4-BE49-F238E27FC236}">
                <a16:creationId xmlns:a16="http://schemas.microsoft.com/office/drawing/2014/main" id="{13CD1A7C-7744-3407-F278-2D4B694DF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173028"/>
              </p:ext>
            </p:extLst>
          </p:nvPr>
        </p:nvGraphicFramePr>
        <p:xfrm>
          <a:off x="8073658" y="1827954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3초 후에 비활성화. </a:t>
                      </a:r>
                      <a:r>
                        <a:rPr lang="ko-KR" altLang="en-US" sz="1200" u="sng" dirty="0"/>
                        <a:t>깊이 15</a:t>
                      </a:r>
                      <a:r>
                        <a:rPr lang="ko-KR" altLang="en-US" sz="1200" dirty="0"/>
                        <a:t>로.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클리어 보상 반영.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F6CDBB85-F92F-895C-E15B-92617ECAC0A5}"/>
              </a:ext>
            </a:extLst>
          </p:cNvPr>
          <p:cNvSpPr/>
          <p:nvPr/>
        </p:nvSpPr>
        <p:spPr>
          <a:xfrm>
            <a:off x="7952037" y="170912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1</a:t>
            </a: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F2BDE847-CAE6-81E5-78C6-B809B06629FC}"/>
              </a:ext>
            </a:extLst>
          </p:cNvPr>
          <p:cNvCxnSpPr>
            <a:cxnSpLocks/>
          </p:cNvCxnSpPr>
          <p:nvPr/>
        </p:nvCxnSpPr>
        <p:spPr>
          <a:xfrm rot="10800000">
            <a:off x="3871081" y="335130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A05E34-7244-1D68-DD7E-4C01D87EA3A0}"/>
              </a:ext>
            </a:extLst>
          </p:cNvPr>
          <p:cNvSpPr/>
          <p:nvPr/>
        </p:nvSpPr>
        <p:spPr>
          <a:xfrm>
            <a:off x="4834346" y="3744698"/>
            <a:ext cx="1442471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메시지 박스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B4D6F56B-D6B5-A1C3-A685-47F2EDE01168}"/>
              </a:ext>
            </a:extLst>
          </p:cNvPr>
          <p:cNvSpPr/>
          <p:nvPr/>
        </p:nvSpPr>
        <p:spPr>
          <a:xfrm>
            <a:off x="4710965" y="362758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74346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4BB3-B2F5-E9BF-F0B8-EEA8C21A3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53A289A5-A7B2-73CF-91E4-1FDB95BEB9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16E59431-121A-81EF-0486-6B3D1537368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EC0FD88-BA83-A3C7-9D81-8EF89F30916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642B69A0-4A03-0B93-AC31-44E6F4FD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5431652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15</a:t>
                      </a:r>
                      <a:endParaRPr lang="ko-KR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0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pic>
        <p:nvPicPr>
          <p:cNvPr id="4" name="그림 3" descr="스크린샷, 만화 영화, 텍스트, 경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DBB06-D981-8AC8-F879-805A2CB51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18458"/>
            <a:ext cx="2427482" cy="4311498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518EEE5E-5FBA-76D8-8F23-967EF2426893}"/>
              </a:ext>
            </a:extLst>
          </p:cNvPr>
          <p:cNvSpPr/>
          <p:nvPr/>
        </p:nvSpPr>
        <p:spPr>
          <a:xfrm>
            <a:off x="4634929" y="3520165"/>
            <a:ext cx="2188142" cy="518335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다음 스테이지 버튼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2382D2B4-D8BC-36D1-2DED-2F7F47B70F27}"/>
              </a:ext>
            </a:extLst>
          </p:cNvPr>
          <p:cNvSpPr/>
          <p:nvPr/>
        </p:nvSpPr>
        <p:spPr>
          <a:xfrm>
            <a:off x="4511402" y="340505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6369175-B5EB-5A8E-30E4-658CAEA9A088}"/>
              </a:ext>
            </a:extLst>
          </p:cNvPr>
          <p:cNvCxnSpPr/>
          <p:nvPr/>
        </p:nvCxnSpPr>
        <p:spPr>
          <a:xfrm>
            <a:off x="2602706" y="4426460"/>
            <a:ext cx="2166937" cy="1190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378825C8-2C57-2378-0043-E69250FFE4AD}"/>
              </a:ext>
            </a:extLst>
          </p:cNvPr>
          <p:cNvCxnSpPr/>
          <p:nvPr/>
        </p:nvCxnSpPr>
        <p:spPr>
          <a:xfrm flipV="1">
            <a:off x="2602705" y="3998401"/>
            <a:ext cx="14571" cy="4283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0A6803-6EB7-877E-4A07-E5625E8E23EA}"/>
              </a:ext>
            </a:extLst>
          </p:cNvPr>
          <p:cNvCxnSpPr/>
          <p:nvPr/>
        </p:nvCxnSpPr>
        <p:spPr>
          <a:xfrm flipH="1">
            <a:off x="3228974" y="3790950"/>
            <a:ext cx="1402557" cy="2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DC224BE-E8B1-2693-D642-3A0A09FF1DBB}"/>
              </a:ext>
            </a:extLst>
          </p:cNvPr>
          <p:cNvSpPr/>
          <p:nvPr/>
        </p:nvSpPr>
        <p:spPr>
          <a:xfrm>
            <a:off x="4757226" y="4188091"/>
            <a:ext cx="965179" cy="518335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홈 버튼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171A1C73-A064-F686-BA1A-E1C628EDE8F1}"/>
              </a:ext>
            </a:extLst>
          </p:cNvPr>
          <p:cNvSpPr/>
          <p:nvPr/>
        </p:nvSpPr>
        <p:spPr>
          <a:xfrm>
            <a:off x="4643106" y="407297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2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974C8FB5-0C60-B7C5-3EEE-75C145E228BD}"/>
              </a:ext>
            </a:extLst>
          </p:cNvPr>
          <p:cNvCxnSpPr>
            <a:cxnSpLocks/>
          </p:cNvCxnSpPr>
          <p:nvPr/>
        </p:nvCxnSpPr>
        <p:spPr>
          <a:xfrm>
            <a:off x="2151151" y="5150830"/>
            <a:ext cx="2543233" cy="249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20478661-D936-FA02-2ED7-A00758E0DC34}"/>
              </a:ext>
            </a:extLst>
          </p:cNvPr>
          <p:cNvCxnSpPr>
            <a:cxnSpLocks/>
          </p:cNvCxnSpPr>
          <p:nvPr/>
        </p:nvCxnSpPr>
        <p:spPr>
          <a:xfrm flipH="1" flipV="1">
            <a:off x="2137498" y="3970180"/>
            <a:ext cx="4244" cy="11903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F72E695-E2EF-D33A-58A3-F8B42ED312B4}"/>
              </a:ext>
            </a:extLst>
          </p:cNvPr>
          <p:cNvSpPr/>
          <p:nvPr/>
        </p:nvSpPr>
        <p:spPr>
          <a:xfrm>
            <a:off x="4700781" y="4903054"/>
            <a:ext cx="1642512" cy="565371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리플레이 버튼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F98BA362-96BB-5F5F-2EC6-7BF8EAF49BE5}"/>
              </a:ext>
            </a:extLst>
          </p:cNvPr>
          <p:cNvSpPr/>
          <p:nvPr/>
        </p:nvSpPr>
        <p:spPr>
          <a:xfrm>
            <a:off x="4586661" y="478794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3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E00D2D6-869D-177D-27AC-EB76352DE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104973"/>
              </p:ext>
            </p:extLst>
          </p:nvPr>
        </p:nvGraphicFramePr>
        <p:xfrm>
          <a:off x="1134661" y="315404"/>
          <a:ext cx="3107213" cy="370840"/>
        </p:xfrm>
        <a:graphic>
          <a:graphicData uri="http://schemas.openxmlformats.org/drawingml/2006/table">
            <a:tbl>
              <a:tblPr firstCol="1" lastCol="1">
                <a:tableStyleId>{AF606853-7671-496A-8E4F-DF71F8EC918B}</a:tableStyleId>
              </a:tblPr>
              <a:tblGrid>
                <a:gridCol w="653458">
                  <a:extLst>
                    <a:ext uri="{9D8B030D-6E8A-4147-A177-3AD203B41FA5}">
                      <a16:colId xmlns:a16="http://schemas.microsoft.com/office/drawing/2014/main" val="2236579890"/>
                    </a:ext>
                  </a:extLst>
                </a:gridCol>
                <a:gridCol w="1254589">
                  <a:extLst>
                    <a:ext uri="{9D8B030D-6E8A-4147-A177-3AD203B41FA5}">
                      <a16:colId xmlns:a16="http://schemas.microsoft.com/office/drawing/2014/main" val="4244925846"/>
                    </a:ext>
                  </a:extLst>
                </a:gridCol>
                <a:gridCol w="1199166">
                  <a:extLst>
                    <a:ext uri="{9D8B030D-6E8A-4147-A177-3AD203B41FA5}">
                      <a16:colId xmlns:a16="http://schemas.microsoft.com/office/drawing/2014/main" val="1562438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깊이</a:t>
                      </a:r>
                    </a:p>
                  </a:txBody>
                  <a:tcPr anchor="ctr">
                    <a:lnL w="19050">
                      <a:solidFill>
                        <a:schemeClr val="tx1"/>
                      </a:solidFill>
                    </a:lnL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14</a:t>
                      </a:r>
                      <a:endParaRPr lang="ko-KR" dirty="0"/>
                    </a:p>
                  </a:txBody>
                  <a:tcPr anchor="ctr"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에서 이동</a:t>
                      </a:r>
                    </a:p>
                  </a:txBody>
                  <a:tcPr anchor="ctr">
                    <a:lnR w="19050">
                      <a:solidFill>
                        <a:schemeClr val="tx1"/>
                      </a:solidFill>
                    </a:lnR>
                    <a:lnT w="19050">
                      <a:solidFill>
                        <a:schemeClr val="tx1"/>
                      </a:solidFill>
                    </a:lnT>
                    <a:lnB w="1905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34804"/>
                  </a:ext>
                </a:extLst>
              </a:tr>
            </a:tbl>
          </a:graphicData>
        </a:graphic>
      </p:graphicFrame>
      <p:graphicFrame>
        <p:nvGraphicFramePr>
          <p:cNvPr id="8" name="표 19">
            <a:extLst>
              <a:ext uri="{FF2B5EF4-FFF2-40B4-BE49-F238E27FC236}">
                <a16:creationId xmlns:a16="http://schemas.microsoft.com/office/drawing/2014/main" id="{84D84777-04B6-D5A9-0E57-8EB8069ADA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786943"/>
              </p:ext>
            </p:extLst>
          </p:nvPr>
        </p:nvGraphicFramePr>
        <p:xfrm>
          <a:off x="8069053" y="1815302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다음 스테이지 버튼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클릭 시 </a:t>
                      </a:r>
                      <a:r>
                        <a:rPr lang="ko-KR" altLang="en-US" sz="1200" u="sng" dirty="0"/>
                        <a:t>깊이 3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err="1">
                          <a:latin typeface="Malgun Gothic"/>
                        </a:rPr>
                        <a:t>마지막</a:t>
                      </a:r>
                      <a:r>
                        <a:rPr lang="en-US" altLang="ko-KR" sz="1200" dirty="0">
                          <a:latin typeface="Malgun Gothic"/>
                        </a:rPr>
                        <a:t> </a:t>
                      </a:r>
                      <a:r>
                        <a:rPr lang="en-US" altLang="ko-KR" sz="1200" err="1">
                          <a:latin typeface="Malgun Gothic"/>
                        </a:rPr>
                        <a:t>스테이지</a:t>
                      </a:r>
                      <a:r>
                        <a:rPr lang="en-US" altLang="ko-KR" sz="1200" dirty="0">
                          <a:latin typeface="Malgun Gothic"/>
                        </a:rPr>
                        <a:t> 시 </a:t>
                      </a:r>
                      <a:r>
                        <a:rPr lang="en-US" altLang="ko-KR" sz="1200" err="1">
                          <a:latin typeface="Malgun Gothic"/>
                        </a:rPr>
                        <a:t>상호작용</a:t>
                      </a:r>
                      <a:r>
                        <a:rPr lang="en-US" altLang="ko-KR" sz="1200" dirty="0">
                          <a:latin typeface="Malgun Gothic"/>
                        </a:rPr>
                        <a:t> </a:t>
                      </a:r>
                      <a:r>
                        <a:rPr lang="en-US" altLang="ko-KR" sz="1200" err="1">
                          <a:latin typeface="Malgun Gothic"/>
                        </a:rPr>
                        <a:t>불가</a:t>
                      </a:r>
                      <a:r>
                        <a:rPr lang="en-US" altLang="ko-KR" sz="1200" dirty="0">
                          <a:latin typeface="Malgun Gothic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err="1">
                          <a:latin typeface="Malgun Gothic"/>
                        </a:rPr>
                        <a:t>다음</a:t>
                      </a:r>
                      <a:r>
                        <a:rPr lang="en-US" altLang="ko-KR" sz="1200" dirty="0">
                          <a:latin typeface="Malgun Gothic"/>
                        </a:rPr>
                        <a:t> </a:t>
                      </a:r>
                      <a:r>
                        <a:rPr lang="en-US" altLang="ko-KR" sz="1200" err="1">
                          <a:latin typeface="Malgun Gothic"/>
                        </a:rPr>
                        <a:t>스테이지</a:t>
                      </a:r>
                      <a:r>
                        <a:rPr lang="en-US" altLang="ko-KR" sz="1200" dirty="0">
                          <a:latin typeface="Malgun Gothic"/>
                        </a:rPr>
                        <a:t> </a:t>
                      </a:r>
                      <a:r>
                        <a:rPr lang="en-US" altLang="ko-KR" sz="1200" err="1">
                          <a:latin typeface="Malgun Gothic"/>
                        </a:rPr>
                        <a:t>정보</a:t>
                      </a:r>
                      <a:endParaRPr lang="en-US" altLang="ko-KR" sz="1200" dirty="0" err="1">
                        <a:latin typeface="Malgun Gothic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48494871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CDE7B96-9E05-DB93-722C-65C9AA7ED37F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12" name="표 19">
            <a:extLst>
              <a:ext uri="{FF2B5EF4-FFF2-40B4-BE49-F238E27FC236}">
                <a16:creationId xmlns:a16="http://schemas.microsoft.com/office/drawing/2014/main" id="{61DA9439-939B-E16F-8EB4-3A43C5AADF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974563"/>
              </p:ext>
            </p:extLst>
          </p:nvPr>
        </p:nvGraphicFramePr>
        <p:xfrm>
          <a:off x="8079635" y="3296968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홈 버튼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클릭 시 </a:t>
                      </a:r>
                      <a:r>
                        <a:rPr lang="ko-KR" altLang="en-US" sz="1200" u="sng" dirty="0"/>
                        <a:t>깊이 0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D28714EB-76F7-B37F-8F2E-FD39A945F430}"/>
              </a:ext>
            </a:extLst>
          </p:cNvPr>
          <p:cNvSpPr/>
          <p:nvPr/>
        </p:nvSpPr>
        <p:spPr>
          <a:xfrm>
            <a:off x="7960803" y="318351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2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graphicFrame>
        <p:nvGraphicFramePr>
          <p:cNvPr id="17" name="표 19">
            <a:extLst>
              <a:ext uri="{FF2B5EF4-FFF2-40B4-BE49-F238E27FC236}">
                <a16:creationId xmlns:a16="http://schemas.microsoft.com/office/drawing/2014/main" id="{7F206A15-7BE6-6C97-87E0-BAFA12F3BD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3685600"/>
              </p:ext>
            </p:extLst>
          </p:nvPr>
        </p:nvGraphicFramePr>
        <p:xfrm>
          <a:off x="8079634" y="4154217"/>
          <a:ext cx="3014653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리플레이 버튼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클릭 시 </a:t>
                      </a:r>
                      <a:r>
                        <a:rPr lang="ko-KR" altLang="en-US" sz="1200" u="sng" dirty="0"/>
                        <a:t>깊이 3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err="1">
                          <a:latin typeface="Malgun Gothic"/>
                        </a:rPr>
                        <a:t>현재</a:t>
                      </a:r>
                      <a:r>
                        <a:rPr lang="en-US" altLang="ko-KR" sz="1200" dirty="0">
                          <a:latin typeface="Malgun Gothic"/>
                        </a:rPr>
                        <a:t> </a:t>
                      </a:r>
                      <a:r>
                        <a:rPr lang="en-US" altLang="ko-KR" sz="1200" err="1">
                          <a:latin typeface="Malgun Gothic"/>
                        </a:rPr>
                        <a:t>스테이지</a:t>
                      </a:r>
                      <a:r>
                        <a:rPr lang="en-US" altLang="ko-KR" sz="1200" dirty="0">
                          <a:latin typeface="Malgun Gothic"/>
                        </a:rPr>
                        <a:t> </a:t>
                      </a:r>
                      <a:r>
                        <a:rPr lang="en-US" altLang="ko-KR" sz="1200" err="1">
                          <a:latin typeface="Malgun Gothic"/>
                        </a:rPr>
                        <a:t>정보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075627063"/>
                  </a:ext>
                </a:extLst>
              </a:tr>
            </a:tbl>
          </a:graphicData>
        </a:graphic>
      </p:graphicFrame>
      <p:sp>
        <p:nvSpPr>
          <p:cNvPr id="18" name="타원 17">
            <a:extLst>
              <a:ext uri="{FF2B5EF4-FFF2-40B4-BE49-F238E27FC236}">
                <a16:creationId xmlns:a16="http://schemas.microsoft.com/office/drawing/2014/main" id="{209B3ACB-DB16-D3B4-F456-874909A4A4B2}"/>
              </a:ext>
            </a:extLst>
          </p:cNvPr>
          <p:cNvSpPr/>
          <p:nvPr/>
        </p:nvSpPr>
        <p:spPr>
          <a:xfrm>
            <a:off x="7960802" y="404076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3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96998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18BF2-59A7-1E82-BE11-434A10FAA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AE37E36A-6ECE-5D04-4A87-2BE1441C18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D71FE910-EF3E-8FE9-307E-18FBAE400618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41309E-9E31-BB25-379E-D99569590969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878AC48B-B8E9-EF57-C507-E64C6E8778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270835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15</a:t>
                      </a:r>
                      <a:endParaRPr lang="ko-KR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3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3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4809BC7-F527-FC38-E69C-9706D7514F63}"/>
              </a:ext>
            </a:extLst>
          </p:cNvPr>
          <p:cNvSpPr/>
          <p:nvPr/>
        </p:nvSpPr>
        <p:spPr>
          <a:xfrm>
            <a:off x="5320729" y="643616"/>
            <a:ext cx="1483292" cy="518335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등급 아이콘​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783505E-0396-A33C-6B91-6C3F3C433D22}"/>
              </a:ext>
            </a:extLst>
          </p:cNvPr>
          <p:cNvSpPr/>
          <p:nvPr/>
        </p:nvSpPr>
        <p:spPr>
          <a:xfrm>
            <a:off x="5197203" y="53802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graphicFrame>
        <p:nvGraphicFramePr>
          <p:cNvPr id="44" name="표 19">
            <a:extLst>
              <a:ext uri="{FF2B5EF4-FFF2-40B4-BE49-F238E27FC236}">
                <a16:creationId xmlns:a16="http://schemas.microsoft.com/office/drawing/2014/main" id="{06824EFD-3316-95C9-9FE2-645BB98C6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6610485"/>
              </p:ext>
            </p:extLst>
          </p:nvPr>
        </p:nvGraphicFramePr>
        <p:xfrm>
          <a:off x="8063146" y="1828807"/>
          <a:ext cx="301465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선택한 카드들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획득한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별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개수에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따라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결정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실패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시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숨김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,Sans-Serif"/>
                        <a:buChar char="•"/>
                      </a:pP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달성한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별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획득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조건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개수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endParaRPr lang="en-US" altLang="ko-KR" sz="1200" b="0" i="0" u="none" strike="noStrike" noProof="0" dirty="0" err="1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6106949"/>
                  </a:ext>
                </a:extLst>
              </a:tr>
            </a:tbl>
          </a:graphicData>
        </a:graphic>
      </p:graphicFrame>
      <p:sp>
        <p:nvSpPr>
          <p:cNvPr id="46" name="타원 45">
            <a:extLst>
              <a:ext uri="{FF2B5EF4-FFF2-40B4-BE49-F238E27FC236}">
                <a16:creationId xmlns:a16="http://schemas.microsoft.com/office/drawing/2014/main" id="{BCF04E43-BEB2-17C5-985F-3A88D8E44E37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4</a:t>
            </a:r>
          </a:p>
        </p:txBody>
      </p:sp>
      <p:graphicFrame>
        <p:nvGraphicFramePr>
          <p:cNvPr id="48" name="표 19">
            <a:extLst>
              <a:ext uri="{FF2B5EF4-FFF2-40B4-BE49-F238E27FC236}">
                <a16:creationId xmlns:a16="http://schemas.microsoft.com/office/drawing/2014/main" id="{CF03BC86-C43B-BF60-A0CC-EFEC831382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83706"/>
              </p:ext>
            </p:extLst>
          </p:nvPr>
        </p:nvGraphicFramePr>
        <p:xfrm>
          <a:off x="8069053" y="3137986"/>
          <a:ext cx="3014648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56745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타이틀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성공 시 "</a:t>
                      </a:r>
                      <a:r>
                        <a:rPr lang="ko-KR" altLang="en-US" sz="1200" dirty="0" err="1"/>
                        <a:t>Success</a:t>
                      </a:r>
                      <a:r>
                        <a:rPr lang="ko-KR" altLang="en-US" sz="1200" dirty="0"/>
                        <a:t>"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실패 시 "</a:t>
                      </a:r>
                      <a:r>
                        <a:rPr lang="ko-KR" altLang="en-US" sz="1200" dirty="0" err="1"/>
                        <a:t>Failed</a:t>
                      </a:r>
                      <a:r>
                        <a:rPr lang="ko-KR" altLang="en-US" sz="1200" dirty="0"/>
                        <a:t>"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ko-KR" altLang="en-US" sz="1200" dirty="0"/>
                        <a:t>플레이어 사망 여부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08053535"/>
                  </a:ext>
                </a:extLst>
              </a:tr>
            </a:tbl>
          </a:graphicData>
        </a:graphic>
      </p:graphicFrame>
      <p:sp>
        <p:nvSpPr>
          <p:cNvPr id="51" name="타원 50">
            <a:extLst>
              <a:ext uri="{FF2B5EF4-FFF2-40B4-BE49-F238E27FC236}">
                <a16:creationId xmlns:a16="http://schemas.microsoft.com/office/drawing/2014/main" id="{9E603FDD-3FF6-A5C0-3505-F35B6DD52BCB}"/>
              </a:ext>
            </a:extLst>
          </p:cNvPr>
          <p:cNvSpPr/>
          <p:nvPr/>
        </p:nvSpPr>
        <p:spPr>
          <a:xfrm>
            <a:off x="7956127" y="299703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graphicFrame>
        <p:nvGraphicFramePr>
          <p:cNvPr id="49" name="표 19">
            <a:extLst>
              <a:ext uri="{FF2B5EF4-FFF2-40B4-BE49-F238E27FC236}">
                <a16:creationId xmlns:a16="http://schemas.microsoft.com/office/drawing/2014/main" id="{689F29DD-3D6C-35CF-5297-68A31CADE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0836055"/>
              </p:ext>
            </p:extLst>
          </p:nvPr>
        </p:nvGraphicFramePr>
        <p:xfrm>
          <a:off x="8063146" y="4439085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처치한 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처치한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종류와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수량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dirty="0" err="1"/>
                        <a:t>등장하는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목록</a:t>
                      </a: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이름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등급</a:t>
                      </a:r>
                      <a:r>
                        <a:rPr lang="en-US" altLang="ko-KR" sz="1200" dirty="0"/>
                        <a:t>, 초상화</a:t>
                      </a: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dirty="0" err="1"/>
                        <a:t>몬스터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사망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여부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219541523"/>
                  </a:ext>
                </a:extLst>
              </a:tr>
            </a:tbl>
          </a:graphicData>
        </a:graphic>
      </p:graphicFrame>
      <p:sp>
        <p:nvSpPr>
          <p:cNvPr id="52" name="타원 51">
            <a:extLst>
              <a:ext uri="{FF2B5EF4-FFF2-40B4-BE49-F238E27FC236}">
                <a16:creationId xmlns:a16="http://schemas.microsoft.com/office/drawing/2014/main" id="{852A6693-93B9-518B-9986-5BAF9A16D3EA}"/>
              </a:ext>
            </a:extLst>
          </p:cNvPr>
          <p:cNvSpPr/>
          <p:nvPr/>
        </p:nvSpPr>
        <p:spPr>
          <a:xfrm>
            <a:off x="7950220" y="432865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6</a:t>
            </a:r>
          </a:p>
        </p:txBody>
      </p:sp>
      <p:pic>
        <p:nvPicPr>
          <p:cNvPr id="4" name="그림 3" descr="스크린샷, 만화 영화, 텍스트, 경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E6323C-1063-E11C-0531-0B74DB31F3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18458"/>
            <a:ext cx="2427482" cy="4311498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1F392DBA-B563-E987-D026-5C3B5F4705B2}"/>
              </a:ext>
            </a:extLst>
          </p:cNvPr>
          <p:cNvCxnSpPr>
            <a:cxnSpLocks/>
          </p:cNvCxnSpPr>
          <p:nvPr/>
        </p:nvCxnSpPr>
        <p:spPr>
          <a:xfrm flipH="1">
            <a:off x="2823156" y="892700"/>
            <a:ext cx="2482151" cy="1300688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연결선: 꺾임 1">
            <a:extLst>
              <a:ext uri="{FF2B5EF4-FFF2-40B4-BE49-F238E27FC236}">
                <a16:creationId xmlns:a16="http://schemas.microsoft.com/office/drawing/2014/main" id="{5D02C066-529B-B683-736F-E44ECA3B615C}"/>
              </a:ext>
            </a:extLst>
          </p:cNvPr>
          <p:cNvCxnSpPr>
            <a:cxnSpLocks/>
          </p:cNvCxnSpPr>
          <p:nvPr/>
        </p:nvCxnSpPr>
        <p:spPr>
          <a:xfrm flipH="1">
            <a:off x="3280355" y="1530874"/>
            <a:ext cx="2072576" cy="94826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4D3A4E2D-64BA-09E8-297E-0B46781CD3C6}"/>
              </a:ext>
            </a:extLst>
          </p:cNvPr>
          <p:cNvSpPr/>
          <p:nvPr/>
        </p:nvSpPr>
        <p:spPr>
          <a:xfrm>
            <a:off x="5368354" y="1319890"/>
            <a:ext cx="968942" cy="508810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타이틀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48E5CABA-53C9-CBF8-CBF2-09297C1B05DC}"/>
              </a:ext>
            </a:extLst>
          </p:cNvPr>
          <p:cNvSpPr/>
          <p:nvPr/>
        </p:nvSpPr>
        <p:spPr>
          <a:xfrm>
            <a:off x="5244827" y="120477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5</a:t>
            </a: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B354549B-CDDA-1A56-CF61-60DDCEFA5B5D}"/>
              </a:ext>
            </a:extLst>
          </p:cNvPr>
          <p:cNvCxnSpPr>
            <a:cxnSpLocks/>
          </p:cNvCxnSpPr>
          <p:nvPr/>
        </p:nvCxnSpPr>
        <p:spPr>
          <a:xfrm flipH="1">
            <a:off x="3166055" y="2683399"/>
            <a:ext cx="2186876" cy="24341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784CB45-CF4E-2EF3-734E-7B14603351BF}"/>
              </a:ext>
            </a:extLst>
          </p:cNvPr>
          <p:cNvSpPr/>
          <p:nvPr/>
        </p:nvSpPr>
        <p:spPr>
          <a:xfrm>
            <a:off x="5358829" y="2405740"/>
            <a:ext cx="1635692" cy="518335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처치한 몬스터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50CBDF97-6492-80F1-45FB-46AD21CDF095}"/>
              </a:ext>
            </a:extLst>
          </p:cNvPr>
          <p:cNvSpPr/>
          <p:nvPr/>
        </p:nvSpPr>
        <p:spPr>
          <a:xfrm>
            <a:off x="5235302" y="229062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2688412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1AB5-BDEF-1A3C-A781-0FB08532B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FCC66992-D640-5A6C-FBDA-437560E50B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F2A2EE15-3517-170F-DA52-9EA7BC52156B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B7B9208-BC28-27A3-FCDC-2791FE223F6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F6A7F9F5-B661-58B9-75EA-3C2E7ACB3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67661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15</a:t>
                      </a:r>
                      <a:endParaRPr lang="ko-KR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3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44" name="표 19">
            <a:extLst>
              <a:ext uri="{FF2B5EF4-FFF2-40B4-BE49-F238E27FC236}">
                <a16:creationId xmlns:a16="http://schemas.microsoft.com/office/drawing/2014/main" id="{A049CF19-B921-CA4F-3A48-357D42CA1FF7}"/>
              </a:ext>
            </a:extLst>
          </p:cNvPr>
          <p:cNvGraphicFramePr>
            <a:graphicFrameLocks noGrp="1"/>
          </p:cNvGraphicFramePr>
          <p:nvPr/>
        </p:nvGraphicFramePr>
        <p:xfrm>
          <a:off x="8063146" y="1828807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짝 맞춘 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,Sans-Serif" panose="020B0604020202020204" pitchFamily="34" charset="0"/>
                        <a:buChar char="•"/>
                      </a:pP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3초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동안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숫자가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랜덤으로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바뀌다가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성공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횟수로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12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변경</a:t>
                      </a:r>
                      <a:r>
                        <a:rPr lang="en-US" altLang="ko-KR" sz="12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6" name="타원 45">
            <a:extLst>
              <a:ext uri="{FF2B5EF4-FFF2-40B4-BE49-F238E27FC236}">
                <a16:creationId xmlns:a16="http://schemas.microsoft.com/office/drawing/2014/main" id="{AD4515EA-EA11-89B2-369C-54DDE02D5388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7</a:t>
            </a:r>
          </a:p>
        </p:txBody>
      </p:sp>
      <p:graphicFrame>
        <p:nvGraphicFramePr>
          <p:cNvPr id="48" name="표 19">
            <a:extLst>
              <a:ext uri="{FF2B5EF4-FFF2-40B4-BE49-F238E27FC236}">
                <a16:creationId xmlns:a16="http://schemas.microsoft.com/office/drawing/2014/main" id="{6A7703D7-025B-F8A8-E274-9293396488A0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2879194"/>
          <a:ext cx="3014648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56745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짝 틀린 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4초 동안 숫자가 랜덤으로 바뀌다가 실패 횟수로 변경.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1" name="타원 50">
            <a:extLst>
              <a:ext uri="{FF2B5EF4-FFF2-40B4-BE49-F238E27FC236}">
                <a16:creationId xmlns:a16="http://schemas.microsoft.com/office/drawing/2014/main" id="{60C25B45-5951-6EB4-873A-5BC08C1405BE}"/>
              </a:ext>
            </a:extLst>
          </p:cNvPr>
          <p:cNvSpPr/>
          <p:nvPr/>
        </p:nvSpPr>
        <p:spPr>
          <a:xfrm>
            <a:off x="7956127" y="273823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</a:rPr>
              <a:t>8</a:t>
            </a:r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graphicFrame>
        <p:nvGraphicFramePr>
          <p:cNvPr id="49" name="표 19">
            <a:extLst>
              <a:ext uri="{FF2B5EF4-FFF2-40B4-BE49-F238E27FC236}">
                <a16:creationId xmlns:a16="http://schemas.microsoft.com/office/drawing/2014/main" id="{669428DD-C3DC-2698-C0E8-85CAD60809DB}"/>
              </a:ext>
            </a:extLst>
          </p:cNvPr>
          <p:cNvGraphicFramePr>
            <a:graphicFrameLocks noGrp="1"/>
          </p:cNvGraphicFramePr>
          <p:nvPr/>
        </p:nvGraphicFramePr>
        <p:xfrm>
          <a:off x="8063146" y="3935878"/>
          <a:ext cx="3014653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플레이 타임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/>
                        <a:t>5초 </a:t>
                      </a:r>
                      <a:r>
                        <a:rPr lang="en-US" altLang="ko-KR" sz="1200" dirty="0" err="1"/>
                        <a:t>동안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숫자가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랜덤으로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바뀌다가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스테이지를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진행한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시간으로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변경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dirty="0" err="1"/>
                        <a:t>스테이지를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시작한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시간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dirty="0" err="1"/>
                        <a:t>스테이지를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마친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시간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219541523"/>
                  </a:ext>
                </a:extLst>
              </a:tr>
            </a:tbl>
          </a:graphicData>
        </a:graphic>
      </p:graphicFrame>
      <p:sp>
        <p:nvSpPr>
          <p:cNvPr id="52" name="타원 51">
            <a:extLst>
              <a:ext uri="{FF2B5EF4-FFF2-40B4-BE49-F238E27FC236}">
                <a16:creationId xmlns:a16="http://schemas.microsoft.com/office/drawing/2014/main" id="{E3C4EDE6-1AC2-C8E0-248B-59DF5835ED30}"/>
              </a:ext>
            </a:extLst>
          </p:cNvPr>
          <p:cNvSpPr/>
          <p:nvPr/>
        </p:nvSpPr>
        <p:spPr>
          <a:xfrm>
            <a:off x="7950220" y="382544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9</a:t>
            </a:r>
          </a:p>
        </p:txBody>
      </p:sp>
      <p:pic>
        <p:nvPicPr>
          <p:cNvPr id="4" name="그림 3" descr="스크린샷, 만화 영화, 텍스트, 경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0F3ACE-32A5-85C6-E98A-DA9E9FFD4B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18458"/>
            <a:ext cx="2427482" cy="4311498"/>
          </a:xfrm>
          <a:prstGeom prst="rect">
            <a:avLst/>
          </a:prstGeom>
        </p:spPr>
      </p:pic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9178E89C-2ED2-B09E-7C40-C07B8B821FE1}"/>
              </a:ext>
            </a:extLst>
          </p:cNvPr>
          <p:cNvCxnSpPr>
            <a:cxnSpLocks/>
          </p:cNvCxnSpPr>
          <p:nvPr/>
        </p:nvCxnSpPr>
        <p:spPr>
          <a:xfrm flipH="1">
            <a:off x="3278943" y="3012659"/>
            <a:ext cx="1565988" cy="24341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D31F3956-2EAD-1FE3-A7D2-5BAA5CB9B99C}"/>
              </a:ext>
            </a:extLst>
          </p:cNvPr>
          <p:cNvCxnSpPr>
            <a:cxnSpLocks/>
          </p:cNvCxnSpPr>
          <p:nvPr/>
        </p:nvCxnSpPr>
        <p:spPr>
          <a:xfrm flipH="1" flipV="1">
            <a:off x="3175462" y="3415998"/>
            <a:ext cx="1951691" cy="283400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4F21E9B1-1C68-FE73-36A2-62187D1AE57C}"/>
              </a:ext>
            </a:extLst>
          </p:cNvPr>
          <p:cNvCxnSpPr/>
          <p:nvPr/>
        </p:nvCxnSpPr>
        <p:spPr>
          <a:xfrm flipH="1">
            <a:off x="2383871" y="2034957"/>
            <a:ext cx="9732" cy="12139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4C1583C-86AF-D926-9E06-0D6F34FAC8FE}"/>
              </a:ext>
            </a:extLst>
          </p:cNvPr>
          <p:cNvCxnSpPr/>
          <p:nvPr/>
        </p:nvCxnSpPr>
        <p:spPr>
          <a:xfrm>
            <a:off x="2388047" y="2043264"/>
            <a:ext cx="2075270" cy="695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9E4F6B-2A93-A0D2-615D-2630E07C7EF0}"/>
              </a:ext>
            </a:extLst>
          </p:cNvPr>
          <p:cNvSpPr/>
          <p:nvPr/>
        </p:nvSpPr>
        <p:spPr>
          <a:xfrm>
            <a:off x="4847955" y="2743760"/>
            <a:ext cx="1253255" cy="50395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짝 틀린 수​</a:t>
            </a: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C83B68AF-DD7D-558F-4FF8-2959EF8E28EF}"/>
              </a:ext>
            </a:extLst>
          </p:cNvPr>
          <p:cNvSpPr/>
          <p:nvPr/>
        </p:nvSpPr>
        <p:spPr>
          <a:xfrm>
            <a:off x="4724429" y="262379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8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4488B81-B5E8-CFF5-CB3B-9145DB8526B1}"/>
              </a:ext>
            </a:extLst>
          </p:cNvPr>
          <p:cNvSpPr/>
          <p:nvPr/>
        </p:nvSpPr>
        <p:spPr>
          <a:xfrm>
            <a:off x="5120495" y="3396828"/>
            <a:ext cx="1483292" cy="518335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플레이 타임​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C2DA0C2A-97DD-E3AF-192E-7878F7B897CD}"/>
              </a:ext>
            </a:extLst>
          </p:cNvPr>
          <p:cNvSpPr/>
          <p:nvPr/>
        </p:nvSpPr>
        <p:spPr>
          <a:xfrm>
            <a:off x="4996969" y="3291238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9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109E95D-EA46-B439-649A-36F3BE1DC0AE}"/>
              </a:ext>
            </a:extLst>
          </p:cNvPr>
          <p:cNvSpPr/>
          <p:nvPr/>
        </p:nvSpPr>
        <p:spPr>
          <a:xfrm>
            <a:off x="4444235" y="1803774"/>
            <a:ext cx="1253254" cy="547090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짝 맞춘 수​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C656172A-F2C7-C5D0-BCBB-91F73C1D43CB}"/>
              </a:ext>
            </a:extLst>
          </p:cNvPr>
          <p:cNvSpPr/>
          <p:nvPr/>
        </p:nvSpPr>
        <p:spPr>
          <a:xfrm>
            <a:off x="4335086" y="168380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336404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FC3AD-F6F3-B919-C017-4EA0EB3C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58886F8-288F-0D77-586E-329E47DA39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729350E2-1A24-385F-4F10-5E1CA9484A97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B8D05FA-A68E-0661-D2F7-8057A6A23EBE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8486219D-30B9-97D7-95BA-895141908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327185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b="0" dirty="0"/>
                        <a:t>15</a:t>
                      </a:r>
                      <a:endParaRPr lang="ko-KR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ko-KR" dirty="0"/>
                        <a:t>1</a:t>
                      </a:r>
                      <a:endParaRPr lang="ko-K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pic>
        <p:nvPicPr>
          <p:cNvPr id="4" name="그림 3" descr="스크린샷, 만화 영화, 텍스트, 경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DEAAA3-8BDC-7953-CCFF-58822A255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18458"/>
            <a:ext cx="2427482" cy="4311498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9F2AA47F-3F0E-BDF1-B194-F9745FC96CFF}"/>
              </a:ext>
            </a:extLst>
          </p:cNvPr>
          <p:cNvCxnSpPr>
            <a:cxnSpLocks/>
          </p:cNvCxnSpPr>
          <p:nvPr/>
        </p:nvCxnSpPr>
        <p:spPr>
          <a:xfrm flipH="1" flipV="1">
            <a:off x="3163951" y="3540777"/>
            <a:ext cx="1693234" cy="736598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A90BC3C-136C-6BBF-B363-8C0D8B4D3016}"/>
              </a:ext>
            </a:extLst>
          </p:cNvPr>
          <p:cNvSpPr/>
          <p:nvPr/>
        </p:nvSpPr>
        <p:spPr>
          <a:xfrm>
            <a:off x="4853517" y="4006344"/>
            <a:ext cx="1253255" cy="50395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dirty="0">
                <a:ea typeface="맑은 고딕"/>
                <a:cs typeface="Arial"/>
              </a:rPr>
              <a:t>경험치 바​</a:t>
            </a: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7092807-164D-E72F-96D8-16D0D103DDA5}"/>
              </a:ext>
            </a:extLst>
          </p:cNvPr>
          <p:cNvSpPr/>
          <p:nvPr/>
        </p:nvSpPr>
        <p:spPr>
          <a:xfrm>
            <a:off x="4729991" y="388637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ko-KR" altLang="en-US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99D78C-4F41-93B7-3939-31ED02EDACDB}"/>
              </a:ext>
            </a:extLst>
          </p:cNvPr>
          <p:cNvSpPr txBox="1"/>
          <p:nvPr/>
        </p:nvSpPr>
        <p:spPr>
          <a:xfrm>
            <a:off x="4604980" y="3812065"/>
            <a:ext cx="48020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10</a:t>
            </a:r>
            <a:endParaRPr lang="ko-KR" altLang="en-US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graphicFrame>
        <p:nvGraphicFramePr>
          <p:cNvPr id="3" name="표 19">
            <a:extLst>
              <a:ext uri="{FF2B5EF4-FFF2-40B4-BE49-F238E27FC236}">
                <a16:creationId xmlns:a16="http://schemas.microsoft.com/office/drawing/2014/main" id="{9EA6DED9-9090-6C20-3762-C69FD79E7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199860"/>
              </p:ext>
            </p:extLst>
          </p:nvPr>
        </p:nvGraphicFramePr>
        <p:xfrm>
          <a:off x="8048768" y="1822405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600" dirty="0"/>
                        <a:t>경험치 바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/>
                        <a:t>5초 </a:t>
                      </a:r>
                      <a:r>
                        <a:rPr lang="en-US" altLang="ko-KR" sz="1200" dirty="0" err="1"/>
                        <a:t>동안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불변</a:t>
                      </a:r>
                      <a:r>
                        <a:rPr lang="en-US" altLang="ko-KR" sz="1200" dirty="0"/>
                        <a:t>. 1초동안 </a:t>
                      </a:r>
                      <a:r>
                        <a:rPr lang="en-US" altLang="ko-KR" sz="1200" dirty="0" err="1"/>
                        <a:t>증가함</a:t>
                      </a:r>
                      <a:r>
                        <a:rPr lang="en-US" altLang="ko-KR" sz="1200" dirty="0"/>
                        <a:t>.</a:t>
                      </a:r>
                      <a:endParaRPr lang="en-US" altLang="ko-KR" sz="1200" dirty="0" err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>
                      <a:solidFill>
                        <a:schemeClr val="tx1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dirty="0" err="1"/>
                        <a:t>플레이어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경험치</a:t>
                      </a: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r>
                        <a:rPr lang="en-US" altLang="ko-KR" sz="1200" dirty="0" err="1"/>
                        <a:t>스테이지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클리어</a:t>
                      </a:r>
                      <a:r>
                        <a:rPr lang="en-US" altLang="ko-KR" sz="1200" dirty="0"/>
                        <a:t> </a:t>
                      </a:r>
                      <a:r>
                        <a:rPr lang="en-US" altLang="ko-KR" sz="1200" dirty="0" err="1"/>
                        <a:t>경험치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219541523"/>
                  </a:ext>
                </a:extLst>
              </a:tr>
            </a:tbl>
          </a:graphicData>
        </a:graphic>
      </p:graphicFrame>
      <p:sp>
        <p:nvSpPr>
          <p:cNvPr id="46" name="타원 45">
            <a:extLst>
              <a:ext uri="{FF2B5EF4-FFF2-40B4-BE49-F238E27FC236}">
                <a16:creationId xmlns:a16="http://schemas.microsoft.com/office/drawing/2014/main" id="{FE42CCFD-789B-A9EB-754E-CF631069181F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altLang="ko-KR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31643-E3E8-7215-3043-B67874B5192B}"/>
              </a:ext>
            </a:extLst>
          </p:cNvPr>
          <p:cNvSpPr txBox="1"/>
          <p:nvPr/>
        </p:nvSpPr>
        <p:spPr>
          <a:xfrm>
            <a:off x="7811131" y="1626706"/>
            <a:ext cx="48020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>
                <a:ln>
                  <a:solidFill>
                    <a:prstClr val="black"/>
                  </a:solidFill>
                </a:ln>
                <a:solidFill>
                  <a:schemeClr val="tx1">
                    <a:lumMod val="65000"/>
                  </a:schemeClr>
                </a:solidFill>
                <a:ea typeface="맑은 고딕"/>
                <a:cs typeface="Arial"/>
              </a:rPr>
              <a:t>10</a:t>
            </a:r>
            <a:endParaRPr lang="ko-KR" altLang="en-US" dirty="0">
              <a:ln>
                <a:solidFill>
                  <a:prstClr val="black"/>
                </a:solidFill>
              </a:ln>
              <a:solidFill>
                <a:schemeClr val="tx1">
                  <a:lumMod val="65000"/>
                </a:schemeClr>
              </a:solidFill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3845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메디슨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TM16401375[[fn=메디슨]]</Template>
  <TotalTime>434</TotalTime>
  <Words>998</Words>
  <Application>Microsoft Office PowerPoint</Application>
  <PresentationFormat>와이드스크린</PresentationFormat>
  <Paragraphs>451</Paragraphs>
  <Slides>32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3" baseType="lpstr">
      <vt:lpstr>메디슨</vt:lpstr>
      <vt:lpstr>NinjaNMatching UI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NinjaNMatching UI</dc:title>
  <dc:creator>G</dc:creator>
  <cp:lastModifiedBy>G</cp:lastModifiedBy>
  <cp:revision>1217</cp:revision>
  <dcterms:created xsi:type="dcterms:W3CDTF">2025-07-31T06:32:44Z</dcterms:created>
  <dcterms:modified xsi:type="dcterms:W3CDTF">2025-08-03T01:45:58Z</dcterms:modified>
</cp:coreProperties>
</file>